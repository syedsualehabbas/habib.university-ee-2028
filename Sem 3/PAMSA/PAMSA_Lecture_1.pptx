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26" r:id="rId2"/>
    <p:sldId id="303" r:id="rId3"/>
    <p:sldId id="304" r:id="rId4"/>
    <p:sldId id="305" r:id="rId5"/>
    <p:sldId id="306" r:id="rId6"/>
    <p:sldId id="309" r:id="rId7"/>
    <p:sldId id="322" r:id="rId8"/>
    <p:sldId id="316" r:id="rId9"/>
    <p:sldId id="310" r:id="rId10"/>
    <p:sldId id="311" r:id="rId11"/>
    <p:sldId id="317" r:id="rId12"/>
    <p:sldId id="318" r:id="rId13"/>
    <p:sldId id="319" r:id="rId14"/>
    <p:sldId id="320" r:id="rId15"/>
    <p:sldId id="321" r:id="rId16"/>
    <p:sldId id="325" r:id="rId17"/>
    <p:sldId id="323" r:id="rId18"/>
    <p:sldId id="307" r:id="rId19"/>
    <p:sldId id="324" r:id="rId20"/>
    <p:sldId id="308" r:id="rId21"/>
    <p:sldId id="314" r:id="rId22"/>
    <p:sldId id="313" r:id="rId23"/>
    <p:sldId id="260" r:id="rId24"/>
    <p:sldId id="281" r:id="rId25"/>
    <p:sldId id="282" r:id="rId26"/>
    <p:sldId id="301" r:id="rId27"/>
    <p:sldId id="302" r:id="rId28"/>
    <p:sldId id="283" r:id="rId29"/>
    <p:sldId id="369" r:id="rId30"/>
    <p:sldId id="371" r:id="rId31"/>
    <p:sldId id="370" r:id="rId32"/>
    <p:sldId id="367" r:id="rId33"/>
    <p:sldId id="372" r:id="rId34"/>
    <p:sldId id="368"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58738"/>
    <a:srgbClr val="61983F"/>
    <a:srgbClr val="5856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948"/>
    <p:restoredTop sz="94564"/>
  </p:normalViewPr>
  <p:slideViewPr>
    <p:cSldViewPr snapToGrid="0" snapToObjects="1">
      <p:cViewPr varScale="1">
        <p:scale>
          <a:sx n="108" d="100"/>
          <a:sy n="108" d="100"/>
        </p:scale>
        <p:origin x="200" y="3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154E4-5525-6C4A-8BB2-A9C9B2B1F8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65705E-CB58-1146-ADA3-A80A12838E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D043764-F9A3-8B41-BBC4-1852A991CBC8}"/>
              </a:ext>
            </a:extLst>
          </p:cNvPr>
          <p:cNvSpPr>
            <a:spLocks noGrp="1"/>
          </p:cNvSpPr>
          <p:nvPr>
            <p:ph type="dt" sz="half" idx="10"/>
          </p:nvPr>
        </p:nvSpPr>
        <p:spPr/>
        <p:txBody>
          <a:bodyPr/>
          <a:lstStyle/>
          <a:p>
            <a:fld id="{40D516DE-3656-9948-A31C-FE0591B3C49B}" type="datetimeFigureOut">
              <a:rPr lang="en-US" smtClean="0"/>
              <a:t>8/18/25</a:t>
            </a:fld>
            <a:endParaRPr lang="en-US"/>
          </a:p>
        </p:txBody>
      </p:sp>
      <p:sp>
        <p:nvSpPr>
          <p:cNvPr id="5" name="Footer Placeholder 4">
            <a:extLst>
              <a:ext uri="{FF2B5EF4-FFF2-40B4-BE49-F238E27FC236}">
                <a16:creationId xmlns:a16="http://schemas.microsoft.com/office/drawing/2014/main" id="{BBEC129D-917C-C145-88F7-1545690366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757C3B-D785-AD41-969C-380E28A1E9AC}"/>
              </a:ext>
            </a:extLst>
          </p:cNvPr>
          <p:cNvSpPr>
            <a:spLocks noGrp="1"/>
          </p:cNvSpPr>
          <p:nvPr>
            <p:ph type="sldNum" sz="quarter" idx="12"/>
          </p:nvPr>
        </p:nvSpPr>
        <p:spPr/>
        <p:txBody>
          <a:bodyPr/>
          <a:lstStyle/>
          <a:p>
            <a:fld id="{F0BC0C11-6133-6E4A-80DE-0B2EF8956F7F}" type="slidenum">
              <a:rPr lang="en-US" smtClean="0"/>
              <a:t>‹#›</a:t>
            </a:fld>
            <a:endParaRPr lang="en-US"/>
          </a:p>
        </p:txBody>
      </p:sp>
    </p:spTree>
    <p:extLst>
      <p:ext uri="{BB962C8B-B14F-4D97-AF65-F5344CB8AC3E}">
        <p14:creationId xmlns:p14="http://schemas.microsoft.com/office/powerpoint/2010/main" val="3881255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05231-8E4B-C140-8873-D13C3CBD27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2A3AC0-CB6D-A643-A40D-332DABCC01E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9B369E-F11D-824D-A2C6-EC7D09C68AD1}"/>
              </a:ext>
            </a:extLst>
          </p:cNvPr>
          <p:cNvSpPr>
            <a:spLocks noGrp="1"/>
          </p:cNvSpPr>
          <p:nvPr>
            <p:ph type="dt" sz="half" idx="10"/>
          </p:nvPr>
        </p:nvSpPr>
        <p:spPr/>
        <p:txBody>
          <a:bodyPr/>
          <a:lstStyle/>
          <a:p>
            <a:fld id="{40D516DE-3656-9948-A31C-FE0591B3C49B}" type="datetimeFigureOut">
              <a:rPr lang="en-US" smtClean="0"/>
              <a:t>8/18/25</a:t>
            </a:fld>
            <a:endParaRPr lang="en-US"/>
          </a:p>
        </p:txBody>
      </p:sp>
      <p:sp>
        <p:nvSpPr>
          <p:cNvPr id="5" name="Footer Placeholder 4">
            <a:extLst>
              <a:ext uri="{FF2B5EF4-FFF2-40B4-BE49-F238E27FC236}">
                <a16:creationId xmlns:a16="http://schemas.microsoft.com/office/drawing/2014/main" id="{6E91B9D0-56FE-CF4D-8664-D4E9A7AC84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F5C0D9-A986-9A42-A337-51B5346CAFDA}"/>
              </a:ext>
            </a:extLst>
          </p:cNvPr>
          <p:cNvSpPr>
            <a:spLocks noGrp="1"/>
          </p:cNvSpPr>
          <p:nvPr>
            <p:ph type="sldNum" sz="quarter" idx="12"/>
          </p:nvPr>
        </p:nvSpPr>
        <p:spPr/>
        <p:txBody>
          <a:bodyPr/>
          <a:lstStyle/>
          <a:p>
            <a:fld id="{F0BC0C11-6133-6E4A-80DE-0B2EF8956F7F}" type="slidenum">
              <a:rPr lang="en-US" smtClean="0"/>
              <a:t>‹#›</a:t>
            </a:fld>
            <a:endParaRPr lang="en-US"/>
          </a:p>
        </p:txBody>
      </p:sp>
    </p:spTree>
    <p:extLst>
      <p:ext uri="{BB962C8B-B14F-4D97-AF65-F5344CB8AC3E}">
        <p14:creationId xmlns:p14="http://schemas.microsoft.com/office/powerpoint/2010/main" val="779698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B4058-8C67-544F-84A4-1D8C1D6FBA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C6FA30D-F63C-1746-B46E-15A89AB90F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7FDB2DE-BD92-F548-828E-E5103AC72594}"/>
              </a:ext>
            </a:extLst>
          </p:cNvPr>
          <p:cNvSpPr>
            <a:spLocks noGrp="1"/>
          </p:cNvSpPr>
          <p:nvPr>
            <p:ph type="dt" sz="half" idx="10"/>
          </p:nvPr>
        </p:nvSpPr>
        <p:spPr/>
        <p:txBody>
          <a:bodyPr/>
          <a:lstStyle/>
          <a:p>
            <a:fld id="{40D516DE-3656-9948-A31C-FE0591B3C49B}" type="datetimeFigureOut">
              <a:rPr lang="en-US" smtClean="0"/>
              <a:t>8/18/25</a:t>
            </a:fld>
            <a:endParaRPr lang="en-US"/>
          </a:p>
        </p:txBody>
      </p:sp>
      <p:sp>
        <p:nvSpPr>
          <p:cNvPr id="5" name="Footer Placeholder 4">
            <a:extLst>
              <a:ext uri="{FF2B5EF4-FFF2-40B4-BE49-F238E27FC236}">
                <a16:creationId xmlns:a16="http://schemas.microsoft.com/office/drawing/2014/main" id="{B9F79E67-D855-974E-A71C-580152FEEF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6165D9-E15F-7E4C-8463-B9DE37FE7ED1}"/>
              </a:ext>
            </a:extLst>
          </p:cNvPr>
          <p:cNvSpPr>
            <a:spLocks noGrp="1"/>
          </p:cNvSpPr>
          <p:nvPr>
            <p:ph type="sldNum" sz="quarter" idx="12"/>
          </p:nvPr>
        </p:nvSpPr>
        <p:spPr/>
        <p:txBody>
          <a:bodyPr/>
          <a:lstStyle/>
          <a:p>
            <a:fld id="{F0BC0C11-6133-6E4A-80DE-0B2EF8956F7F}" type="slidenum">
              <a:rPr lang="en-US" smtClean="0"/>
              <a:t>‹#›</a:t>
            </a:fld>
            <a:endParaRPr lang="en-US"/>
          </a:p>
        </p:txBody>
      </p:sp>
    </p:spTree>
    <p:extLst>
      <p:ext uri="{BB962C8B-B14F-4D97-AF65-F5344CB8AC3E}">
        <p14:creationId xmlns:p14="http://schemas.microsoft.com/office/powerpoint/2010/main" val="1737860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38087-6E72-DB4C-883E-D3763135EF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ED31F0-7002-5644-A269-FF250F07652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EEBCB8-8A5E-8143-A213-96ADCA26EB1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C91A39D-B95E-2148-A7D1-174FA8673177}"/>
              </a:ext>
            </a:extLst>
          </p:cNvPr>
          <p:cNvSpPr>
            <a:spLocks noGrp="1"/>
          </p:cNvSpPr>
          <p:nvPr>
            <p:ph type="dt" sz="half" idx="10"/>
          </p:nvPr>
        </p:nvSpPr>
        <p:spPr/>
        <p:txBody>
          <a:bodyPr/>
          <a:lstStyle/>
          <a:p>
            <a:fld id="{40D516DE-3656-9948-A31C-FE0591B3C49B}" type="datetimeFigureOut">
              <a:rPr lang="en-US" smtClean="0"/>
              <a:t>8/18/25</a:t>
            </a:fld>
            <a:endParaRPr lang="en-US"/>
          </a:p>
        </p:txBody>
      </p:sp>
      <p:sp>
        <p:nvSpPr>
          <p:cNvPr id="6" name="Footer Placeholder 5">
            <a:extLst>
              <a:ext uri="{FF2B5EF4-FFF2-40B4-BE49-F238E27FC236}">
                <a16:creationId xmlns:a16="http://schemas.microsoft.com/office/drawing/2014/main" id="{DFA4929D-69B5-1948-A21D-C200916139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CB9DBD-6B4F-7C44-8589-2A0905DD2B7C}"/>
              </a:ext>
            </a:extLst>
          </p:cNvPr>
          <p:cNvSpPr>
            <a:spLocks noGrp="1"/>
          </p:cNvSpPr>
          <p:nvPr>
            <p:ph type="sldNum" sz="quarter" idx="12"/>
          </p:nvPr>
        </p:nvSpPr>
        <p:spPr/>
        <p:txBody>
          <a:bodyPr/>
          <a:lstStyle/>
          <a:p>
            <a:fld id="{F0BC0C11-6133-6E4A-80DE-0B2EF8956F7F}" type="slidenum">
              <a:rPr lang="en-US" smtClean="0"/>
              <a:t>‹#›</a:t>
            </a:fld>
            <a:endParaRPr lang="en-US"/>
          </a:p>
        </p:txBody>
      </p:sp>
    </p:spTree>
    <p:extLst>
      <p:ext uri="{BB962C8B-B14F-4D97-AF65-F5344CB8AC3E}">
        <p14:creationId xmlns:p14="http://schemas.microsoft.com/office/powerpoint/2010/main" val="759386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5C743-F33E-A449-8C2E-E43B13BA91F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CFD66C3-DF22-EE4B-A620-3500023CA2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FA2E017-953E-AC41-AF12-8D62E7D7464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6DE5B7A-F852-9B44-95BA-C417608B3F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9D0C114-44BD-6946-BD3C-88EF9544DB4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21405A-90AE-0543-9BF8-F7ADBA9154C8}"/>
              </a:ext>
            </a:extLst>
          </p:cNvPr>
          <p:cNvSpPr>
            <a:spLocks noGrp="1"/>
          </p:cNvSpPr>
          <p:nvPr>
            <p:ph type="dt" sz="half" idx="10"/>
          </p:nvPr>
        </p:nvSpPr>
        <p:spPr/>
        <p:txBody>
          <a:bodyPr/>
          <a:lstStyle/>
          <a:p>
            <a:fld id="{40D516DE-3656-9948-A31C-FE0591B3C49B}" type="datetimeFigureOut">
              <a:rPr lang="en-US" smtClean="0"/>
              <a:t>8/18/25</a:t>
            </a:fld>
            <a:endParaRPr lang="en-US"/>
          </a:p>
        </p:txBody>
      </p:sp>
      <p:sp>
        <p:nvSpPr>
          <p:cNvPr id="8" name="Footer Placeholder 7">
            <a:extLst>
              <a:ext uri="{FF2B5EF4-FFF2-40B4-BE49-F238E27FC236}">
                <a16:creationId xmlns:a16="http://schemas.microsoft.com/office/drawing/2014/main" id="{A8B7DC3E-C7FF-B049-B7F7-F34F36DC38F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331603-365E-184E-BFDC-F783BB5B3456}"/>
              </a:ext>
            </a:extLst>
          </p:cNvPr>
          <p:cNvSpPr>
            <a:spLocks noGrp="1"/>
          </p:cNvSpPr>
          <p:nvPr>
            <p:ph type="sldNum" sz="quarter" idx="12"/>
          </p:nvPr>
        </p:nvSpPr>
        <p:spPr/>
        <p:txBody>
          <a:bodyPr/>
          <a:lstStyle/>
          <a:p>
            <a:fld id="{F0BC0C11-6133-6E4A-80DE-0B2EF8956F7F}" type="slidenum">
              <a:rPr lang="en-US" smtClean="0"/>
              <a:t>‹#›</a:t>
            </a:fld>
            <a:endParaRPr lang="en-US"/>
          </a:p>
        </p:txBody>
      </p:sp>
    </p:spTree>
    <p:extLst>
      <p:ext uri="{BB962C8B-B14F-4D97-AF65-F5344CB8AC3E}">
        <p14:creationId xmlns:p14="http://schemas.microsoft.com/office/powerpoint/2010/main" val="975064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7BBE9-6668-AF4A-897C-7C89690BADC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4F201D-8FBC-4349-AF13-D48DCCEEF835}"/>
              </a:ext>
            </a:extLst>
          </p:cNvPr>
          <p:cNvSpPr>
            <a:spLocks noGrp="1"/>
          </p:cNvSpPr>
          <p:nvPr>
            <p:ph type="dt" sz="half" idx="10"/>
          </p:nvPr>
        </p:nvSpPr>
        <p:spPr/>
        <p:txBody>
          <a:bodyPr/>
          <a:lstStyle/>
          <a:p>
            <a:fld id="{40D516DE-3656-9948-A31C-FE0591B3C49B}" type="datetimeFigureOut">
              <a:rPr lang="en-US" smtClean="0"/>
              <a:t>8/18/25</a:t>
            </a:fld>
            <a:endParaRPr lang="en-US"/>
          </a:p>
        </p:txBody>
      </p:sp>
      <p:sp>
        <p:nvSpPr>
          <p:cNvPr id="4" name="Footer Placeholder 3">
            <a:extLst>
              <a:ext uri="{FF2B5EF4-FFF2-40B4-BE49-F238E27FC236}">
                <a16:creationId xmlns:a16="http://schemas.microsoft.com/office/drawing/2014/main" id="{65E4F640-1E1C-804C-A832-C4A162D2C0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23BC7C7-D0E1-1840-A6B0-8883C76F76E7}"/>
              </a:ext>
            </a:extLst>
          </p:cNvPr>
          <p:cNvSpPr>
            <a:spLocks noGrp="1"/>
          </p:cNvSpPr>
          <p:nvPr>
            <p:ph type="sldNum" sz="quarter" idx="12"/>
          </p:nvPr>
        </p:nvSpPr>
        <p:spPr/>
        <p:txBody>
          <a:bodyPr/>
          <a:lstStyle/>
          <a:p>
            <a:fld id="{F0BC0C11-6133-6E4A-80DE-0B2EF8956F7F}" type="slidenum">
              <a:rPr lang="en-US" smtClean="0"/>
              <a:t>‹#›</a:t>
            </a:fld>
            <a:endParaRPr lang="en-US"/>
          </a:p>
        </p:txBody>
      </p:sp>
    </p:spTree>
    <p:extLst>
      <p:ext uri="{BB962C8B-B14F-4D97-AF65-F5344CB8AC3E}">
        <p14:creationId xmlns:p14="http://schemas.microsoft.com/office/powerpoint/2010/main" val="16474676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99C80A-9F69-1F42-87CD-FA9420F0A921}"/>
              </a:ext>
            </a:extLst>
          </p:cNvPr>
          <p:cNvSpPr>
            <a:spLocks noGrp="1"/>
          </p:cNvSpPr>
          <p:nvPr>
            <p:ph type="dt" sz="half" idx="10"/>
          </p:nvPr>
        </p:nvSpPr>
        <p:spPr/>
        <p:txBody>
          <a:bodyPr/>
          <a:lstStyle/>
          <a:p>
            <a:fld id="{40D516DE-3656-9948-A31C-FE0591B3C49B}" type="datetimeFigureOut">
              <a:rPr lang="en-US" smtClean="0"/>
              <a:t>8/18/25</a:t>
            </a:fld>
            <a:endParaRPr lang="en-US"/>
          </a:p>
        </p:txBody>
      </p:sp>
      <p:sp>
        <p:nvSpPr>
          <p:cNvPr id="3" name="Footer Placeholder 2">
            <a:extLst>
              <a:ext uri="{FF2B5EF4-FFF2-40B4-BE49-F238E27FC236}">
                <a16:creationId xmlns:a16="http://schemas.microsoft.com/office/drawing/2014/main" id="{9A92E53D-C2C1-E540-A387-BB7040B9627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69392AA-4924-174A-8F7F-30703EB89278}"/>
              </a:ext>
            </a:extLst>
          </p:cNvPr>
          <p:cNvSpPr>
            <a:spLocks noGrp="1"/>
          </p:cNvSpPr>
          <p:nvPr>
            <p:ph type="sldNum" sz="quarter" idx="12"/>
          </p:nvPr>
        </p:nvSpPr>
        <p:spPr/>
        <p:txBody>
          <a:bodyPr/>
          <a:lstStyle/>
          <a:p>
            <a:fld id="{F0BC0C11-6133-6E4A-80DE-0B2EF8956F7F}" type="slidenum">
              <a:rPr lang="en-US" smtClean="0"/>
              <a:t>‹#›</a:t>
            </a:fld>
            <a:endParaRPr lang="en-US"/>
          </a:p>
        </p:txBody>
      </p:sp>
    </p:spTree>
    <p:extLst>
      <p:ext uri="{BB962C8B-B14F-4D97-AF65-F5344CB8AC3E}">
        <p14:creationId xmlns:p14="http://schemas.microsoft.com/office/powerpoint/2010/main" val="4156747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A78C6-A576-1447-A0E4-04C3018542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EBDA7CC-983F-6343-AFF3-EFF0CF8819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EC6E4E0-BF83-D843-9D71-572C7E75B0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CAD5767-C49A-7D4D-9F35-5F4503B36DAE}"/>
              </a:ext>
            </a:extLst>
          </p:cNvPr>
          <p:cNvSpPr>
            <a:spLocks noGrp="1"/>
          </p:cNvSpPr>
          <p:nvPr>
            <p:ph type="dt" sz="half" idx="10"/>
          </p:nvPr>
        </p:nvSpPr>
        <p:spPr/>
        <p:txBody>
          <a:bodyPr/>
          <a:lstStyle/>
          <a:p>
            <a:fld id="{40D516DE-3656-9948-A31C-FE0591B3C49B}" type="datetimeFigureOut">
              <a:rPr lang="en-US" smtClean="0"/>
              <a:t>8/18/25</a:t>
            </a:fld>
            <a:endParaRPr lang="en-US"/>
          </a:p>
        </p:txBody>
      </p:sp>
      <p:sp>
        <p:nvSpPr>
          <p:cNvPr id="6" name="Footer Placeholder 5">
            <a:extLst>
              <a:ext uri="{FF2B5EF4-FFF2-40B4-BE49-F238E27FC236}">
                <a16:creationId xmlns:a16="http://schemas.microsoft.com/office/drawing/2014/main" id="{D9352A0F-35C3-B040-9808-0BFD80B4DE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DF05AC-4EF2-614F-B3F7-CEE10173ECC9}"/>
              </a:ext>
            </a:extLst>
          </p:cNvPr>
          <p:cNvSpPr>
            <a:spLocks noGrp="1"/>
          </p:cNvSpPr>
          <p:nvPr>
            <p:ph type="sldNum" sz="quarter" idx="12"/>
          </p:nvPr>
        </p:nvSpPr>
        <p:spPr/>
        <p:txBody>
          <a:bodyPr/>
          <a:lstStyle/>
          <a:p>
            <a:fld id="{F0BC0C11-6133-6E4A-80DE-0B2EF8956F7F}" type="slidenum">
              <a:rPr lang="en-US" smtClean="0"/>
              <a:t>‹#›</a:t>
            </a:fld>
            <a:endParaRPr lang="en-US"/>
          </a:p>
        </p:txBody>
      </p:sp>
    </p:spTree>
    <p:extLst>
      <p:ext uri="{BB962C8B-B14F-4D97-AF65-F5344CB8AC3E}">
        <p14:creationId xmlns:p14="http://schemas.microsoft.com/office/powerpoint/2010/main" val="3185867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0AD29-7B76-9847-8A6C-47E2E19BF2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CF55ADB-20BF-E744-9697-EC9BD98069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E4BF7B6-A86E-084C-B712-8136D233B0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1184B27-AE80-1A41-9CA7-A6EFBAA53F3A}"/>
              </a:ext>
            </a:extLst>
          </p:cNvPr>
          <p:cNvSpPr>
            <a:spLocks noGrp="1"/>
          </p:cNvSpPr>
          <p:nvPr>
            <p:ph type="dt" sz="half" idx="10"/>
          </p:nvPr>
        </p:nvSpPr>
        <p:spPr/>
        <p:txBody>
          <a:bodyPr/>
          <a:lstStyle/>
          <a:p>
            <a:fld id="{40D516DE-3656-9948-A31C-FE0591B3C49B}" type="datetimeFigureOut">
              <a:rPr lang="en-US" smtClean="0"/>
              <a:t>8/18/25</a:t>
            </a:fld>
            <a:endParaRPr lang="en-US"/>
          </a:p>
        </p:txBody>
      </p:sp>
      <p:sp>
        <p:nvSpPr>
          <p:cNvPr id="6" name="Footer Placeholder 5">
            <a:extLst>
              <a:ext uri="{FF2B5EF4-FFF2-40B4-BE49-F238E27FC236}">
                <a16:creationId xmlns:a16="http://schemas.microsoft.com/office/drawing/2014/main" id="{CD307DAE-7F9A-5642-936F-854679A499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12A217-65FA-8042-B829-E9EDE38461D3}"/>
              </a:ext>
            </a:extLst>
          </p:cNvPr>
          <p:cNvSpPr>
            <a:spLocks noGrp="1"/>
          </p:cNvSpPr>
          <p:nvPr>
            <p:ph type="sldNum" sz="quarter" idx="12"/>
          </p:nvPr>
        </p:nvSpPr>
        <p:spPr/>
        <p:txBody>
          <a:bodyPr/>
          <a:lstStyle/>
          <a:p>
            <a:fld id="{F0BC0C11-6133-6E4A-80DE-0B2EF8956F7F}" type="slidenum">
              <a:rPr lang="en-US" smtClean="0"/>
              <a:t>‹#›</a:t>
            </a:fld>
            <a:endParaRPr lang="en-US"/>
          </a:p>
        </p:txBody>
      </p:sp>
    </p:spTree>
    <p:extLst>
      <p:ext uri="{BB962C8B-B14F-4D97-AF65-F5344CB8AC3E}">
        <p14:creationId xmlns:p14="http://schemas.microsoft.com/office/powerpoint/2010/main" val="1874162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AA253-32E5-6844-B0AC-9474316D5C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5C61237-DBC9-DF48-9524-87549DC6F68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9A2102-43E2-284A-AE77-DFF25BB3F1EE}"/>
              </a:ext>
            </a:extLst>
          </p:cNvPr>
          <p:cNvSpPr>
            <a:spLocks noGrp="1"/>
          </p:cNvSpPr>
          <p:nvPr>
            <p:ph type="dt" sz="half" idx="10"/>
          </p:nvPr>
        </p:nvSpPr>
        <p:spPr/>
        <p:txBody>
          <a:bodyPr/>
          <a:lstStyle/>
          <a:p>
            <a:fld id="{40D516DE-3656-9948-A31C-FE0591B3C49B}" type="datetimeFigureOut">
              <a:rPr lang="en-US" smtClean="0"/>
              <a:t>8/18/25</a:t>
            </a:fld>
            <a:endParaRPr lang="en-US"/>
          </a:p>
        </p:txBody>
      </p:sp>
      <p:sp>
        <p:nvSpPr>
          <p:cNvPr id="5" name="Footer Placeholder 4">
            <a:extLst>
              <a:ext uri="{FF2B5EF4-FFF2-40B4-BE49-F238E27FC236}">
                <a16:creationId xmlns:a16="http://schemas.microsoft.com/office/drawing/2014/main" id="{BDEFE096-76E9-6848-8433-0E28204F55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8F765D-71C4-B343-9A90-96C4E4DCC0C3}"/>
              </a:ext>
            </a:extLst>
          </p:cNvPr>
          <p:cNvSpPr>
            <a:spLocks noGrp="1"/>
          </p:cNvSpPr>
          <p:nvPr>
            <p:ph type="sldNum" sz="quarter" idx="12"/>
          </p:nvPr>
        </p:nvSpPr>
        <p:spPr/>
        <p:txBody>
          <a:bodyPr/>
          <a:lstStyle/>
          <a:p>
            <a:fld id="{F0BC0C11-6133-6E4A-80DE-0B2EF8956F7F}" type="slidenum">
              <a:rPr lang="en-US" smtClean="0"/>
              <a:t>‹#›</a:t>
            </a:fld>
            <a:endParaRPr lang="en-US"/>
          </a:p>
        </p:txBody>
      </p:sp>
    </p:spTree>
    <p:extLst>
      <p:ext uri="{BB962C8B-B14F-4D97-AF65-F5344CB8AC3E}">
        <p14:creationId xmlns:p14="http://schemas.microsoft.com/office/powerpoint/2010/main" val="42834619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B31D470-3372-E247-B05D-7C78E490078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42A1B7-62C5-3F44-96D3-DD41E4F59386}"/>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D03032-1255-204A-923C-5C7858A60E7A}"/>
              </a:ext>
            </a:extLst>
          </p:cNvPr>
          <p:cNvSpPr>
            <a:spLocks noGrp="1"/>
          </p:cNvSpPr>
          <p:nvPr>
            <p:ph type="dt" sz="half" idx="10"/>
          </p:nvPr>
        </p:nvSpPr>
        <p:spPr/>
        <p:txBody>
          <a:bodyPr/>
          <a:lstStyle/>
          <a:p>
            <a:fld id="{40D516DE-3656-9948-A31C-FE0591B3C49B}" type="datetimeFigureOut">
              <a:rPr lang="en-US" smtClean="0"/>
              <a:t>8/18/25</a:t>
            </a:fld>
            <a:endParaRPr lang="en-US"/>
          </a:p>
        </p:txBody>
      </p:sp>
      <p:sp>
        <p:nvSpPr>
          <p:cNvPr id="5" name="Footer Placeholder 4">
            <a:extLst>
              <a:ext uri="{FF2B5EF4-FFF2-40B4-BE49-F238E27FC236}">
                <a16:creationId xmlns:a16="http://schemas.microsoft.com/office/drawing/2014/main" id="{D4D5744C-3CBE-F94A-824D-2FBBD3C921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2E4F74-06E4-6C4D-A3BE-EDBAB90152A3}"/>
              </a:ext>
            </a:extLst>
          </p:cNvPr>
          <p:cNvSpPr>
            <a:spLocks noGrp="1"/>
          </p:cNvSpPr>
          <p:nvPr>
            <p:ph type="sldNum" sz="quarter" idx="12"/>
          </p:nvPr>
        </p:nvSpPr>
        <p:spPr/>
        <p:txBody>
          <a:bodyPr/>
          <a:lstStyle/>
          <a:p>
            <a:fld id="{F0BC0C11-6133-6E4A-80DE-0B2EF8956F7F}" type="slidenum">
              <a:rPr lang="en-US" smtClean="0"/>
              <a:t>‹#›</a:t>
            </a:fld>
            <a:endParaRPr lang="en-US"/>
          </a:p>
        </p:txBody>
      </p:sp>
    </p:spTree>
    <p:extLst>
      <p:ext uri="{BB962C8B-B14F-4D97-AF65-F5344CB8AC3E}">
        <p14:creationId xmlns:p14="http://schemas.microsoft.com/office/powerpoint/2010/main" val="3254814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6E46CD-691B-DC46-8A1A-EB303306D7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6795D1C-8208-5B4C-832E-AB7143D34D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FF16B4-A86A-1E4D-BD85-CB61C48D52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D516DE-3656-9948-A31C-FE0591B3C49B}" type="datetimeFigureOut">
              <a:rPr lang="en-US" smtClean="0"/>
              <a:t>8/18/25</a:t>
            </a:fld>
            <a:endParaRPr lang="en-US"/>
          </a:p>
        </p:txBody>
      </p:sp>
      <p:sp>
        <p:nvSpPr>
          <p:cNvPr id="5" name="Footer Placeholder 4">
            <a:extLst>
              <a:ext uri="{FF2B5EF4-FFF2-40B4-BE49-F238E27FC236}">
                <a16:creationId xmlns:a16="http://schemas.microsoft.com/office/drawing/2014/main" id="{0F8361E0-2D22-B34C-A3A9-376585BAC3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475E887-8EEA-A543-8BC5-D2924E9CF5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BC0C11-6133-6E4A-80DE-0B2EF8956F7F}" type="slidenum">
              <a:rPr lang="en-US" smtClean="0"/>
              <a:t>‹#›</a:t>
            </a:fld>
            <a:endParaRPr lang="en-US"/>
          </a:p>
        </p:txBody>
      </p:sp>
    </p:spTree>
    <p:extLst>
      <p:ext uri="{BB962C8B-B14F-4D97-AF65-F5344CB8AC3E}">
        <p14:creationId xmlns:p14="http://schemas.microsoft.com/office/powerpoint/2010/main" val="33276882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58738"/>
        </a:solidFill>
        <a:effectLst/>
      </p:bgPr>
    </p:bg>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94077D27-E770-6E4E-8330-09B568B28021}"/>
              </a:ext>
            </a:extLst>
          </p:cNvPr>
          <p:cNvSpPr>
            <a:spLocks noGrp="1" noChangeArrowheads="1"/>
          </p:cNvSpPr>
          <p:nvPr>
            <p:ph type="ctrTitle"/>
          </p:nvPr>
        </p:nvSpPr>
        <p:spPr>
          <a:xfrm>
            <a:off x="1524000" y="678270"/>
            <a:ext cx="9144000" cy="3828778"/>
          </a:xfrm>
        </p:spPr>
        <p:txBody>
          <a:bodyPr>
            <a:normAutofit fontScale="90000"/>
          </a:bodyPr>
          <a:lstStyle/>
          <a:p>
            <a:r>
              <a:rPr lang="en-US" altLang="en-US" sz="4900" i="1" dirty="0">
                <a:latin typeface="Garamond" panose="02020404030301010803" pitchFamily="18" charset="0"/>
              </a:rPr>
              <a:t>Core 201:</a:t>
            </a:r>
            <a:br>
              <a:rPr lang="en-US" altLang="en-US" sz="4900" i="1" dirty="0">
                <a:latin typeface="Garamond" panose="02020404030301010803" pitchFamily="18" charset="0"/>
              </a:rPr>
            </a:br>
            <a:r>
              <a:rPr lang="en-US" altLang="en-US" sz="4900" i="1" dirty="0">
                <a:latin typeface="Garamond" panose="02020404030301010803" pitchFamily="18" charset="0"/>
              </a:rPr>
              <a:t>Pakistan &amp; Modern South Asia</a:t>
            </a:r>
            <a:br>
              <a:rPr lang="en-US" altLang="en-US" sz="4900" i="1" dirty="0">
                <a:latin typeface="Garamond" panose="02020404030301010803" pitchFamily="18" charset="0"/>
              </a:rPr>
            </a:br>
            <a:r>
              <a:rPr lang="en-US" altLang="en-US" sz="4900" i="1" dirty="0">
                <a:latin typeface="Garamond" panose="02020404030301010803" pitchFamily="18" charset="0"/>
              </a:rPr>
              <a:t>(Modernity in South Asia)</a:t>
            </a:r>
            <a:br>
              <a:rPr lang="en-US" altLang="en-US" i="1" dirty="0">
                <a:latin typeface="Garamond" panose="02020404030301010803" pitchFamily="18" charset="0"/>
              </a:rPr>
            </a:br>
            <a:br>
              <a:rPr lang="en-US" altLang="en-US" i="1" dirty="0">
                <a:latin typeface="Garamond" panose="02020404030301010803" pitchFamily="18" charset="0"/>
              </a:rPr>
            </a:br>
            <a:r>
              <a:rPr lang="en-US" altLang="en-US" sz="7100" i="1" dirty="0">
                <a:solidFill>
                  <a:schemeClr val="bg1"/>
                </a:solidFill>
                <a:latin typeface="Garamond" panose="02020404030301010803" pitchFamily="18" charset="0"/>
              </a:rPr>
              <a:t>Week 1</a:t>
            </a:r>
            <a:br>
              <a:rPr lang="en-US" altLang="en-US" sz="7100" i="1" dirty="0">
                <a:solidFill>
                  <a:schemeClr val="bg1"/>
                </a:solidFill>
                <a:latin typeface="Garamond" panose="02020404030301010803" pitchFamily="18" charset="0"/>
              </a:rPr>
            </a:br>
            <a:r>
              <a:rPr lang="en-US" altLang="en-US" sz="7100" i="1" dirty="0">
                <a:solidFill>
                  <a:schemeClr val="bg1"/>
                </a:solidFill>
                <a:latin typeface="Garamond" panose="02020404030301010803" pitchFamily="18" charset="0"/>
              </a:rPr>
              <a:t>The Abyss of National History</a:t>
            </a:r>
          </a:p>
        </p:txBody>
      </p:sp>
    </p:spTree>
    <p:extLst>
      <p:ext uri="{BB962C8B-B14F-4D97-AF65-F5344CB8AC3E}">
        <p14:creationId xmlns:p14="http://schemas.microsoft.com/office/powerpoint/2010/main" val="648142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AB2E5306-C96C-01D1-7FF5-F9161173C96F}"/>
              </a:ext>
            </a:extLst>
          </p:cNvPr>
          <p:cNvPicPr>
            <a:picLocks noGrp="1" noChangeAspect="1"/>
          </p:cNvPicPr>
          <p:nvPr>
            <p:ph idx="1"/>
          </p:nvPr>
        </p:nvPicPr>
        <p:blipFill>
          <a:blip r:embed="rId2"/>
          <a:stretch>
            <a:fillRect/>
          </a:stretch>
        </p:blipFill>
        <p:spPr>
          <a:xfrm>
            <a:off x="0" y="167742"/>
            <a:ext cx="12195734" cy="6322268"/>
          </a:xfrm>
        </p:spPr>
      </p:pic>
    </p:spTree>
    <p:extLst>
      <p:ext uri="{BB962C8B-B14F-4D97-AF65-F5344CB8AC3E}">
        <p14:creationId xmlns:p14="http://schemas.microsoft.com/office/powerpoint/2010/main" val="1005836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A9CEB7C9-3557-A96C-2AFF-A8C6801F52A5}"/>
              </a:ext>
            </a:extLst>
          </p:cNvPr>
          <p:cNvPicPr>
            <a:picLocks noGrp="1" noChangeAspect="1"/>
          </p:cNvPicPr>
          <p:nvPr>
            <p:ph idx="1"/>
          </p:nvPr>
        </p:nvPicPr>
        <p:blipFill>
          <a:blip r:embed="rId2"/>
          <a:stretch>
            <a:fillRect/>
          </a:stretch>
        </p:blipFill>
        <p:spPr>
          <a:xfrm>
            <a:off x="3596640" y="13551"/>
            <a:ext cx="4282440" cy="6832657"/>
          </a:xfrm>
        </p:spPr>
      </p:pic>
    </p:spTree>
    <p:extLst>
      <p:ext uri="{BB962C8B-B14F-4D97-AF65-F5344CB8AC3E}">
        <p14:creationId xmlns:p14="http://schemas.microsoft.com/office/powerpoint/2010/main" val="3801719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7EFE30B-BDD0-8D1E-8014-5D65F799C0B5}"/>
              </a:ext>
            </a:extLst>
          </p:cNvPr>
          <p:cNvPicPr>
            <a:picLocks noGrp="1" noChangeAspect="1"/>
          </p:cNvPicPr>
          <p:nvPr>
            <p:ph idx="1"/>
          </p:nvPr>
        </p:nvPicPr>
        <p:blipFill>
          <a:blip r:embed="rId2"/>
          <a:stretch>
            <a:fillRect/>
          </a:stretch>
        </p:blipFill>
        <p:spPr>
          <a:xfrm>
            <a:off x="1017219" y="0"/>
            <a:ext cx="10157561" cy="6861146"/>
          </a:xfrm>
        </p:spPr>
      </p:pic>
    </p:spTree>
    <p:extLst>
      <p:ext uri="{BB962C8B-B14F-4D97-AF65-F5344CB8AC3E}">
        <p14:creationId xmlns:p14="http://schemas.microsoft.com/office/powerpoint/2010/main" val="3319207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762EF6C-2BFB-75CF-E5EA-175608B0F392}"/>
              </a:ext>
            </a:extLst>
          </p:cNvPr>
          <p:cNvPicPr>
            <a:picLocks noGrp="1" noChangeAspect="1"/>
          </p:cNvPicPr>
          <p:nvPr>
            <p:ph idx="1"/>
          </p:nvPr>
        </p:nvPicPr>
        <p:blipFill>
          <a:blip r:embed="rId2"/>
          <a:stretch>
            <a:fillRect/>
          </a:stretch>
        </p:blipFill>
        <p:spPr>
          <a:xfrm>
            <a:off x="0" y="326758"/>
            <a:ext cx="12192000" cy="6007953"/>
          </a:xfrm>
        </p:spPr>
      </p:pic>
    </p:spTree>
    <p:extLst>
      <p:ext uri="{BB962C8B-B14F-4D97-AF65-F5344CB8AC3E}">
        <p14:creationId xmlns:p14="http://schemas.microsoft.com/office/powerpoint/2010/main" val="26998873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68F9988-77D4-F1B4-D223-A62008D12B32}"/>
              </a:ext>
            </a:extLst>
          </p:cNvPr>
          <p:cNvPicPr>
            <a:picLocks noGrp="1" noChangeAspect="1"/>
          </p:cNvPicPr>
          <p:nvPr>
            <p:ph idx="1"/>
          </p:nvPr>
        </p:nvPicPr>
        <p:blipFill>
          <a:blip r:embed="rId2"/>
          <a:stretch>
            <a:fillRect/>
          </a:stretch>
        </p:blipFill>
        <p:spPr>
          <a:xfrm>
            <a:off x="0" y="585033"/>
            <a:ext cx="12192000" cy="5799059"/>
          </a:xfrm>
        </p:spPr>
      </p:pic>
    </p:spTree>
    <p:extLst>
      <p:ext uri="{BB962C8B-B14F-4D97-AF65-F5344CB8AC3E}">
        <p14:creationId xmlns:p14="http://schemas.microsoft.com/office/powerpoint/2010/main" val="3898391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75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63DE04-B137-B63E-833A-354429024756}"/>
              </a:ext>
            </a:extLst>
          </p:cNvPr>
          <p:cNvSpPr>
            <a:spLocks noGrp="1"/>
          </p:cNvSpPr>
          <p:nvPr>
            <p:ph idx="1"/>
          </p:nvPr>
        </p:nvSpPr>
        <p:spPr>
          <a:xfrm>
            <a:off x="838200" y="2392679"/>
            <a:ext cx="10515600" cy="3784283"/>
          </a:xfrm>
        </p:spPr>
        <p:txBody>
          <a:bodyPr>
            <a:normAutofit/>
          </a:bodyPr>
          <a:lstStyle/>
          <a:p>
            <a:pPr marL="0" indent="0" algn="ctr">
              <a:buNone/>
            </a:pPr>
            <a:r>
              <a:rPr lang="ur-PK" sz="8800" dirty="0">
                <a:solidFill>
                  <a:schemeClr val="bg1"/>
                </a:solidFill>
              </a:rPr>
              <a:t>پاک سر زمین</a:t>
            </a:r>
            <a:endParaRPr lang="en-PK" sz="8800" dirty="0">
              <a:solidFill>
                <a:schemeClr val="bg1"/>
              </a:solidFill>
            </a:endParaRPr>
          </a:p>
        </p:txBody>
      </p:sp>
    </p:spTree>
    <p:extLst>
      <p:ext uri="{BB962C8B-B14F-4D97-AF65-F5344CB8AC3E}">
        <p14:creationId xmlns:p14="http://schemas.microsoft.com/office/powerpoint/2010/main" val="688251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804AF22-0440-D8B2-6964-FDA8D6314987}"/>
              </a:ext>
            </a:extLst>
          </p:cNvPr>
          <p:cNvPicPr>
            <a:picLocks noGrp="1" noChangeAspect="1"/>
          </p:cNvPicPr>
          <p:nvPr>
            <p:ph idx="1"/>
          </p:nvPr>
        </p:nvPicPr>
        <p:blipFill>
          <a:blip r:embed="rId2"/>
          <a:stretch>
            <a:fillRect/>
          </a:stretch>
        </p:blipFill>
        <p:spPr>
          <a:xfrm>
            <a:off x="0" y="1280159"/>
            <a:ext cx="12195216" cy="3798205"/>
          </a:xfrm>
        </p:spPr>
      </p:pic>
    </p:spTree>
    <p:extLst>
      <p:ext uri="{BB962C8B-B14F-4D97-AF65-F5344CB8AC3E}">
        <p14:creationId xmlns:p14="http://schemas.microsoft.com/office/powerpoint/2010/main" val="670682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918EFCF-843D-A1B4-B5BE-5972857BCA5D}"/>
              </a:ext>
            </a:extLst>
          </p:cNvPr>
          <p:cNvPicPr>
            <a:picLocks noGrp="1" noChangeAspect="1"/>
          </p:cNvPicPr>
          <p:nvPr>
            <p:ph idx="1"/>
          </p:nvPr>
        </p:nvPicPr>
        <p:blipFill>
          <a:blip r:embed="rId2"/>
          <a:stretch>
            <a:fillRect/>
          </a:stretch>
        </p:blipFill>
        <p:spPr>
          <a:xfrm>
            <a:off x="4160520" y="13546"/>
            <a:ext cx="3850004" cy="6844454"/>
          </a:xfrm>
        </p:spPr>
      </p:pic>
    </p:spTree>
    <p:extLst>
      <p:ext uri="{BB962C8B-B14F-4D97-AF65-F5344CB8AC3E}">
        <p14:creationId xmlns:p14="http://schemas.microsoft.com/office/powerpoint/2010/main" val="2322044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61983F"/>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1A1945B-6A08-8527-C1F0-6D9489D479B9}"/>
              </a:ext>
            </a:extLst>
          </p:cNvPr>
          <p:cNvPicPr>
            <a:picLocks noGrp="1" noChangeAspect="1"/>
          </p:cNvPicPr>
          <p:nvPr>
            <p:ph idx="1"/>
          </p:nvPr>
        </p:nvPicPr>
        <p:blipFill>
          <a:blip r:embed="rId2"/>
          <a:stretch>
            <a:fillRect/>
          </a:stretch>
        </p:blipFill>
        <p:spPr>
          <a:xfrm>
            <a:off x="3840480" y="17082"/>
            <a:ext cx="4511040" cy="6840918"/>
          </a:xfrm>
        </p:spPr>
      </p:pic>
    </p:spTree>
    <p:extLst>
      <p:ext uri="{BB962C8B-B14F-4D97-AF65-F5344CB8AC3E}">
        <p14:creationId xmlns:p14="http://schemas.microsoft.com/office/powerpoint/2010/main" val="15969287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DB6CF3E-FC02-8131-F16B-CB4D4140FE70}"/>
              </a:ext>
            </a:extLst>
          </p:cNvPr>
          <p:cNvPicPr>
            <a:picLocks noGrp="1" noChangeAspect="1"/>
          </p:cNvPicPr>
          <p:nvPr>
            <p:ph idx="1"/>
          </p:nvPr>
        </p:nvPicPr>
        <p:blipFill>
          <a:blip r:embed="rId2"/>
          <a:stretch>
            <a:fillRect/>
          </a:stretch>
        </p:blipFill>
        <p:spPr>
          <a:xfrm>
            <a:off x="0" y="457200"/>
            <a:ext cx="12191998" cy="5852160"/>
          </a:xfrm>
        </p:spPr>
      </p:pic>
    </p:spTree>
    <p:extLst>
      <p:ext uri="{BB962C8B-B14F-4D97-AF65-F5344CB8AC3E}">
        <p14:creationId xmlns:p14="http://schemas.microsoft.com/office/powerpoint/2010/main" val="687104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0D591A2-B448-F0D6-F875-ED368381A135}"/>
              </a:ext>
            </a:extLst>
          </p:cNvPr>
          <p:cNvPicPr>
            <a:picLocks noGrp="1" noChangeAspect="1"/>
          </p:cNvPicPr>
          <p:nvPr>
            <p:ph idx="1"/>
          </p:nvPr>
        </p:nvPicPr>
        <p:blipFill>
          <a:blip r:embed="rId2"/>
          <a:stretch>
            <a:fillRect/>
          </a:stretch>
        </p:blipFill>
        <p:spPr>
          <a:xfrm>
            <a:off x="3794760" y="-2961"/>
            <a:ext cx="4556760" cy="6860177"/>
          </a:xfrm>
        </p:spPr>
      </p:pic>
    </p:spTree>
    <p:extLst>
      <p:ext uri="{BB962C8B-B14F-4D97-AF65-F5344CB8AC3E}">
        <p14:creationId xmlns:p14="http://schemas.microsoft.com/office/powerpoint/2010/main" val="1943275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88F57D59-7D06-020A-66E6-4F3A48DA34A9}"/>
              </a:ext>
            </a:extLst>
          </p:cNvPr>
          <p:cNvPicPr>
            <a:picLocks noGrp="1" noChangeAspect="1"/>
          </p:cNvPicPr>
          <p:nvPr>
            <p:ph idx="1"/>
          </p:nvPr>
        </p:nvPicPr>
        <p:blipFill>
          <a:blip r:embed="rId2"/>
          <a:stretch>
            <a:fillRect/>
          </a:stretch>
        </p:blipFill>
        <p:spPr>
          <a:xfrm>
            <a:off x="1645920" y="0"/>
            <a:ext cx="9159240" cy="6834202"/>
          </a:xfrm>
        </p:spPr>
      </p:pic>
    </p:spTree>
    <p:extLst>
      <p:ext uri="{BB962C8B-B14F-4D97-AF65-F5344CB8AC3E}">
        <p14:creationId xmlns:p14="http://schemas.microsoft.com/office/powerpoint/2010/main" val="39016961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7840C59-375B-8732-5804-F2B96B4CB4B6}"/>
              </a:ext>
            </a:extLst>
          </p:cNvPr>
          <p:cNvPicPr>
            <a:picLocks noGrp="1" noChangeAspect="1"/>
          </p:cNvPicPr>
          <p:nvPr>
            <p:ph idx="1"/>
          </p:nvPr>
        </p:nvPicPr>
        <p:blipFill>
          <a:blip r:embed="rId2"/>
          <a:stretch>
            <a:fillRect/>
          </a:stretch>
        </p:blipFill>
        <p:spPr>
          <a:xfrm>
            <a:off x="8200" y="868680"/>
            <a:ext cx="12183800" cy="4774922"/>
          </a:xfrm>
        </p:spPr>
      </p:pic>
    </p:spTree>
    <p:extLst>
      <p:ext uri="{BB962C8B-B14F-4D97-AF65-F5344CB8AC3E}">
        <p14:creationId xmlns:p14="http://schemas.microsoft.com/office/powerpoint/2010/main" val="19308954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61983F"/>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1A1945B-6A08-8527-C1F0-6D9489D479B9}"/>
              </a:ext>
            </a:extLst>
          </p:cNvPr>
          <p:cNvPicPr>
            <a:picLocks noGrp="1" noChangeAspect="1"/>
          </p:cNvPicPr>
          <p:nvPr>
            <p:ph idx="1"/>
          </p:nvPr>
        </p:nvPicPr>
        <p:blipFill>
          <a:blip r:embed="rId2"/>
          <a:stretch>
            <a:fillRect/>
          </a:stretch>
        </p:blipFill>
        <p:spPr>
          <a:xfrm>
            <a:off x="3840480" y="17082"/>
            <a:ext cx="4511040" cy="6840918"/>
          </a:xfrm>
        </p:spPr>
      </p:pic>
    </p:spTree>
    <p:extLst>
      <p:ext uri="{BB962C8B-B14F-4D97-AF65-F5344CB8AC3E}">
        <p14:creationId xmlns:p14="http://schemas.microsoft.com/office/powerpoint/2010/main" val="7985342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3C632-30F9-E9F4-497D-D1AE4001B8EE}"/>
              </a:ext>
            </a:extLst>
          </p:cNvPr>
          <p:cNvSpPr>
            <a:spLocks noGrp="1"/>
          </p:cNvSpPr>
          <p:nvPr>
            <p:ph type="title"/>
          </p:nvPr>
        </p:nvSpPr>
        <p:spPr/>
        <p:txBody>
          <a:bodyPr>
            <a:normAutofit/>
          </a:bodyPr>
          <a:lstStyle/>
          <a:p>
            <a:r>
              <a:rPr lang="en-PK" sz="2000" dirty="0">
                <a:latin typeface="Garamond" panose="02020404030301010803" pitchFamily="18" charset="0"/>
              </a:rPr>
              <a:t>An example of Pakistan’s ‘manifest destiny’ – a quote from Zulfikar Ali Bhutto, speaking from the floor of the </a:t>
            </a:r>
            <a:r>
              <a:rPr lang="en-GB" sz="2000" dirty="0">
                <a:effectLst/>
                <a:latin typeface="Garamond" panose="02020404030301010803" pitchFamily="18" charset="0"/>
              </a:rPr>
              <a:t>National Assembly on 16 March 1966 (in the wake of the debacle of the 1965 war):</a:t>
            </a:r>
            <a:br>
              <a:rPr lang="en-GB" sz="2000" dirty="0">
                <a:latin typeface="Garamond" panose="02020404030301010803" pitchFamily="18" charset="0"/>
              </a:rPr>
            </a:br>
            <a:endParaRPr lang="en-PK" sz="2000" dirty="0">
              <a:latin typeface="Garamond" panose="02020404030301010803" pitchFamily="18" charset="0"/>
            </a:endParaRPr>
          </a:p>
        </p:txBody>
      </p:sp>
      <p:sp>
        <p:nvSpPr>
          <p:cNvPr id="3" name="Content Placeholder 2">
            <a:extLst>
              <a:ext uri="{FF2B5EF4-FFF2-40B4-BE49-F238E27FC236}">
                <a16:creationId xmlns:a16="http://schemas.microsoft.com/office/drawing/2014/main" id="{32BB1F0E-50A5-85DB-ECA3-1D77BBAEF03C}"/>
              </a:ext>
            </a:extLst>
          </p:cNvPr>
          <p:cNvSpPr>
            <a:spLocks noGrp="1"/>
          </p:cNvSpPr>
          <p:nvPr>
            <p:ph idx="1"/>
          </p:nvPr>
        </p:nvSpPr>
        <p:spPr/>
        <p:txBody>
          <a:bodyPr>
            <a:normAutofit fontScale="92500" lnSpcReduction="20000"/>
          </a:bodyPr>
          <a:lstStyle/>
          <a:p>
            <a:pPr marL="0" indent="0">
              <a:buNone/>
            </a:pPr>
            <a:r>
              <a:rPr lang="en-GB" sz="3200" dirty="0">
                <a:effectLst/>
                <a:latin typeface="Garamond" panose="02020404030301010803" pitchFamily="18" charset="0"/>
              </a:rPr>
              <a:t>“Pakistan is a great ideal. A member of this House has said that Pakistan is a man-made country. Pakistan is not just a man-made country. It is a God-made country. It is a beautiful thought. It is a creation of excellence. That is what Pakistan is... not just the sandy desert of Sindh or the rugged nobility of Baluchistan and the enchanting lushness of Bengal or the inspiring plains of the Punjab or the raw courage of the land of the Pathans. Indeed all these things... go to make Pakistan... [But] there is something much more to Pakistan. It is the blessing of Allah. Pakistan is the creation of the surge of Islamic nationhood. Pakistan is the product of an earth-shaking idea. It is a revolution cut out of the heart of history… Pakistan is a live revolution.”</a:t>
            </a:r>
            <a:endParaRPr lang="en-GB" sz="3200" dirty="0">
              <a:latin typeface="Garamond" panose="02020404030301010803" pitchFamily="18" charset="0"/>
            </a:endParaRPr>
          </a:p>
          <a:p>
            <a:endParaRPr lang="en-PK" dirty="0"/>
          </a:p>
        </p:txBody>
      </p:sp>
    </p:spTree>
    <p:extLst>
      <p:ext uri="{BB962C8B-B14F-4D97-AF65-F5344CB8AC3E}">
        <p14:creationId xmlns:p14="http://schemas.microsoft.com/office/powerpoint/2010/main" val="36990868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6">
            <a:lumMod val="75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D92F54-73E7-B321-29E3-1BB19B36A5C3}"/>
              </a:ext>
            </a:extLst>
          </p:cNvPr>
          <p:cNvSpPr>
            <a:spLocks noGrp="1"/>
          </p:cNvSpPr>
          <p:nvPr>
            <p:ph idx="1"/>
          </p:nvPr>
        </p:nvSpPr>
        <p:spPr>
          <a:xfrm>
            <a:off x="838200" y="853440"/>
            <a:ext cx="10515600" cy="5323523"/>
          </a:xfrm>
        </p:spPr>
        <p:txBody>
          <a:bodyPr>
            <a:normAutofit/>
          </a:bodyPr>
          <a:lstStyle/>
          <a:p>
            <a:pPr marL="0" indent="0" algn="ctr" defTabSz="914400" rtl="1" eaLnBrk="1" latinLnBrk="0" hangingPunct="1">
              <a:lnSpc>
                <a:spcPct val="90000"/>
              </a:lnSpc>
              <a:spcBef>
                <a:spcPts val="1000"/>
              </a:spcBef>
              <a:buNone/>
            </a:pPr>
            <a:endParaRPr lang="ur-PK" sz="7200" dirty="0"/>
          </a:p>
          <a:p>
            <a:pPr marL="0" indent="0" algn="ctr" defTabSz="914400" rtl="1" eaLnBrk="1" latinLnBrk="0" hangingPunct="1">
              <a:lnSpc>
                <a:spcPct val="90000"/>
              </a:lnSpc>
              <a:spcBef>
                <a:spcPts val="1000"/>
              </a:spcBef>
              <a:buNone/>
            </a:pPr>
            <a:r>
              <a:rPr lang="ur-PK" sz="7200" dirty="0">
                <a:solidFill>
                  <a:schemeClr val="bg1"/>
                </a:solidFill>
              </a:rPr>
              <a:t>ہم ہیں پاکستانی</a:t>
            </a:r>
          </a:p>
          <a:p>
            <a:pPr marL="0" indent="0" algn="ctr" defTabSz="914400" rtl="1" eaLnBrk="1" latinLnBrk="0" hangingPunct="1">
              <a:lnSpc>
                <a:spcPct val="90000"/>
              </a:lnSpc>
              <a:spcBef>
                <a:spcPts val="1000"/>
              </a:spcBef>
              <a:buNone/>
            </a:pPr>
            <a:r>
              <a:rPr lang="ur-PK" sz="7200" dirty="0">
                <a:solidFill>
                  <a:schemeClr val="bg1"/>
                </a:solidFill>
              </a:rPr>
              <a:t>ہم تو جیتینگے!</a:t>
            </a:r>
            <a:endParaRPr lang="en-PK" sz="7200" dirty="0">
              <a:solidFill>
                <a:schemeClr val="bg1"/>
              </a:solidFill>
            </a:endParaRPr>
          </a:p>
        </p:txBody>
      </p:sp>
    </p:spTree>
    <p:extLst>
      <p:ext uri="{BB962C8B-B14F-4D97-AF65-F5344CB8AC3E}">
        <p14:creationId xmlns:p14="http://schemas.microsoft.com/office/powerpoint/2010/main" val="16721220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F3F88669-BD0F-43BA-ADC3-2751D703A830}"/>
              </a:ext>
            </a:extLst>
          </p:cNvPr>
          <p:cNvPicPr>
            <a:picLocks noGrp="1" noChangeAspect="1"/>
          </p:cNvPicPr>
          <p:nvPr>
            <p:ph idx="1"/>
          </p:nvPr>
        </p:nvPicPr>
        <p:blipFill>
          <a:blip r:embed="rId2"/>
          <a:stretch>
            <a:fillRect/>
          </a:stretch>
        </p:blipFill>
        <p:spPr>
          <a:xfrm>
            <a:off x="0" y="479113"/>
            <a:ext cx="12191370" cy="5899773"/>
          </a:xfrm>
        </p:spPr>
      </p:pic>
    </p:spTree>
    <p:extLst>
      <p:ext uri="{BB962C8B-B14F-4D97-AF65-F5344CB8AC3E}">
        <p14:creationId xmlns:p14="http://schemas.microsoft.com/office/powerpoint/2010/main" val="27492223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AC746E7-9873-E590-E1F5-EC5D80C03A1C}"/>
              </a:ext>
            </a:extLst>
          </p:cNvPr>
          <p:cNvPicPr>
            <a:picLocks noGrp="1" noChangeAspect="1"/>
          </p:cNvPicPr>
          <p:nvPr>
            <p:ph idx="1"/>
          </p:nvPr>
        </p:nvPicPr>
        <p:blipFill>
          <a:blip r:embed="rId2"/>
          <a:stretch>
            <a:fillRect/>
          </a:stretch>
        </p:blipFill>
        <p:spPr>
          <a:xfrm>
            <a:off x="2840" y="1223288"/>
            <a:ext cx="12186319" cy="4233003"/>
          </a:xfrm>
        </p:spPr>
      </p:pic>
    </p:spTree>
    <p:extLst>
      <p:ext uri="{BB962C8B-B14F-4D97-AF65-F5344CB8AC3E}">
        <p14:creationId xmlns:p14="http://schemas.microsoft.com/office/powerpoint/2010/main" val="3729748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F19A1D5-358E-DD74-AD31-A5892B5AB396}"/>
              </a:ext>
            </a:extLst>
          </p:cNvPr>
          <p:cNvPicPr>
            <a:picLocks noGrp="1" noChangeAspect="1"/>
          </p:cNvPicPr>
          <p:nvPr>
            <p:ph idx="1"/>
          </p:nvPr>
        </p:nvPicPr>
        <p:blipFill>
          <a:blip r:embed="rId2"/>
          <a:stretch>
            <a:fillRect/>
          </a:stretch>
        </p:blipFill>
        <p:spPr>
          <a:xfrm>
            <a:off x="-1" y="672902"/>
            <a:ext cx="12193683" cy="5468817"/>
          </a:xfrm>
        </p:spPr>
      </p:pic>
    </p:spTree>
    <p:extLst>
      <p:ext uri="{BB962C8B-B14F-4D97-AF65-F5344CB8AC3E}">
        <p14:creationId xmlns:p14="http://schemas.microsoft.com/office/powerpoint/2010/main" val="22329438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124DDCB-1DB7-F74A-5234-8C5C717CF70D}"/>
              </a:ext>
            </a:extLst>
          </p:cNvPr>
          <p:cNvPicPr>
            <a:picLocks noGrp="1" noChangeAspect="1"/>
          </p:cNvPicPr>
          <p:nvPr>
            <p:ph idx="1"/>
          </p:nvPr>
        </p:nvPicPr>
        <p:blipFill>
          <a:blip r:embed="rId2"/>
          <a:stretch>
            <a:fillRect/>
          </a:stretch>
        </p:blipFill>
        <p:spPr>
          <a:xfrm>
            <a:off x="0" y="182580"/>
            <a:ext cx="12192000" cy="6387748"/>
          </a:xfrm>
        </p:spPr>
      </p:pic>
    </p:spTree>
    <p:extLst>
      <p:ext uri="{BB962C8B-B14F-4D97-AF65-F5344CB8AC3E}">
        <p14:creationId xmlns:p14="http://schemas.microsoft.com/office/powerpoint/2010/main" val="42590440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585656"/>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D21492E-3428-275F-276F-D1011D3205F3}"/>
              </a:ext>
            </a:extLst>
          </p:cNvPr>
          <p:cNvPicPr>
            <a:picLocks noGrp="1" noChangeAspect="1"/>
          </p:cNvPicPr>
          <p:nvPr>
            <p:ph idx="1"/>
          </p:nvPr>
        </p:nvPicPr>
        <p:blipFill>
          <a:blip r:embed="rId2"/>
          <a:stretch>
            <a:fillRect/>
          </a:stretch>
        </p:blipFill>
        <p:spPr>
          <a:xfrm>
            <a:off x="2738891" y="-1"/>
            <a:ext cx="6981568" cy="6858001"/>
          </a:xfrm>
        </p:spPr>
      </p:pic>
    </p:spTree>
    <p:extLst>
      <p:ext uri="{BB962C8B-B14F-4D97-AF65-F5344CB8AC3E}">
        <p14:creationId xmlns:p14="http://schemas.microsoft.com/office/powerpoint/2010/main" val="27944819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94077D27-E770-6E4E-8330-09B568B28021}"/>
              </a:ext>
            </a:extLst>
          </p:cNvPr>
          <p:cNvSpPr>
            <a:spLocks noGrp="1" noChangeArrowheads="1"/>
          </p:cNvSpPr>
          <p:nvPr>
            <p:ph type="ctrTitle"/>
          </p:nvPr>
        </p:nvSpPr>
        <p:spPr/>
        <p:txBody>
          <a:bodyPr>
            <a:normAutofit fontScale="90000"/>
          </a:bodyPr>
          <a:lstStyle/>
          <a:p>
            <a:r>
              <a:rPr lang="en-US" altLang="en-US" i="1" dirty="0">
                <a:latin typeface="Garamond" panose="02020404030301010803" pitchFamily="18" charset="0"/>
              </a:rPr>
              <a:t>Core 201:</a:t>
            </a:r>
            <a:br>
              <a:rPr lang="en-US" altLang="en-US" i="1" dirty="0">
                <a:latin typeface="Garamond" panose="02020404030301010803" pitchFamily="18" charset="0"/>
              </a:rPr>
            </a:br>
            <a:r>
              <a:rPr lang="en-US" altLang="en-US" i="1" dirty="0">
                <a:latin typeface="Garamond" panose="02020404030301010803" pitchFamily="18" charset="0"/>
              </a:rPr>
              <a:t>Pakistan &amp; Modern South Asia</a:t>
            </a:r>
            <a:br>
              <a:rPr lang="en-US" altLang="en-US" i="1" dirty="0">
                <a:latin typeface="Garamond" panose="02020404030301010803" pitchFamily="18" charset="0"/>
              </a:rPr>
            </a:br>
            <a:r>
              <a:rPr lang="en-US" altLang="en-US" i="1" dirty="0">
                <a:latin typeface="Garamond" panose="02020404030301010803" pitchFamily="18" charset="0"/>
              </a:rPr>
              <a:t>(Modernity in South Asia)</a:t>
            </a:r>
          </a:p>
        </p:txBody>
      </p:sp>
    </p:spTree>
    <p:extLst>
      <p:ext uri="{BB962C8B-B14F-4D97-AF65-F5344CB8AC3E}">
        <p14:creationId xmlns:p14="http://schemas.microsoft.com/office/powerpoint/2010/main" val="5874661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B2242092-C7BC-8340-ACC8-3E003C542C43}"/>
              </a:ext>
            </a:extLst>
          </p:cNvPr>
          <p:cNvSpPr>
            <a:spLocks noGrp="1" noChangeArrowheads="1"/>
          </p:cNvSpPr>
          <p:nvPr>
            <p:ph type="ctrTitle"/>
          </p:nvPr>
        </p:nvSpPr>
        <p:spPr>
          <a:xfrm>
            <a:off x="1524000" y="1449658"/>
            <a:ext cx="9144000" cy="3104582"/>
          </a:xfrm>
        </p:spPr>
        <p:txBody>
          <a:bodyPr>
            <a:normAutofit fontScale="90000"/>
          </a:bodyPr>
          <a:lstStyle/>
          <a:p>
            <a:br>
              <a:rPr lang="en-US" altLang="en-US" sz="4000" i="1" dirty="0">
                <a:latin typeface="Garamond" panose="02020404030301010803" pitchFamily="18" charset="0"/>
              </a:rPr>
            </a:br>
            <a:br>
              <a:rPr lang="en-US" altLang="en-US" sz="4000" i="1" dirty="0">
                <a:latin typeface="Garamond" panose="02020404030301010803" pitchFamily="18" charset="0"/>
              </a:rPr>
            </a:br>
            <a:r>
              <a:rPr lang="en-US" altLang="en-US" sz="4000" i="1" dirty="0">
                <a:latin typeface="Garamond" panose="02020404030301010803" pitchFamily="18" charset="0"/>
              </a:rPr>
              <a:t>Week 1:</a:t>
            </a:r>
            <a:br>
              <a:rPr lang="en-US" altLang="en-US" sz="4000" i="1" dirty="0">
                <a:latin typeface="Garamond" panose="02020404030301010803" pitchFamily="18" charset="0"/>
              </a:rPr>
            </a:br>
            <a:br>
              <a:rPr lang="en-US" altLang="en-US" sz="4000" i="1" dirty="0">
                <a:latin typeface="Garamond" panose="02020404030301010803" pitchFamily="18" charset="0"/>
              </a:rPr>
            </a:br>
            <a:r>
              <a:rPr lang="en-US" altLang="en-US" sz="4000" i="1" dirty="0">
                <a:latin typeface="Garamond" panose="02020404030301010803" pitchFamily="18" charset="0"/>
              </a:rPr>
              <a:t>What is History?</a:t>
            </a:r>
            <a:br>
              <a:rPr lang="en-US" altLang="en-US" sz="4000" i="1" dirty="0">
                <a:latin typeface="Garamond" panose="02020404030301010803" pitchFamily="18" charset="0"/>
              </a:rPr>
            </a:br>
            <a:r>
              <a:rPr lang="en-US" altLang="en-US" sz="4000" i="1" dirty="0">
                <a:latin typeface="Garamond" panose="02020404030301010803" pitchFamily="18" charset="0"/>
              </a:rPr>
              <a:t>&amp;</a:t>
            </a:r>
            <a:br>
              <a:rPr lang="en-US" altLang="en-US" sz="4000" i="1" dirty="0">
                <a:latin typeface="Garamond" panose="02020404030301010803" pitchFamily="18" charset="0"/>
              </a:rPr>
            </a:br>
            <a:r>
              <a:rPr lang="en-US" altLang="en-US" sz="4000" i="1" dirty="0">
                <a:latin typeface="Garamond" panose="02020404030301010803" pitchFamily="18" charset="0"/>
              </a:rPr>
              <a:t>Habib University’s</a:t>
            </a:r>
            <a:br>
              <a:rPr lang="en-US" altLang="en-US" sz="4000" i="1" dirty="0">
                <a:latin typeface="Garamond" panose="02020404030301010803" pitchFamily="18" charset="0"/>
              </a:rPr>
            </a:br>
            <a:r>
              <a:rPr lang="en-US" altLang="en-US" sz="4000" i="1" dirty="0">
                <a:latin typeface="Garamond" panose="02020404030301010803" pitchFamily="18" charset="0"/>
              </a:rPr>
              <a:t>Postcolonial Liberal Arts</a:t>
            </a:r>
            <a:br>
              <a:rPr lang="en-US" altLang="en-US" sz="4000" i="1" dirty="0">
                <a:latin typeface="Garamond" panose="02020404030301010803" pitchFamily="18" charset="0"/>
              </a:rPr>
            </a:br>
            <a:endParaRPr lang="en-US" altLang="en-US" sz="4000" i="1" dirty="0">
              <a:latin typeface="Garamond" panose="02020404030301010803" pitchFamily="18" charset="0"/>
            </a:endParaRPr>
          </a:p>
        </p:txBody>
      </p:sp>
    </p:spTree>
    <p:extLst>
      <p:ext uri="{BB962C8B-B14F-4D97-AF65-F5344CB8AC3E}">
        <p14:creationId xmlns:p14="http://schemas.microsoft.com/office/powerpoint/2010/main" val="3928411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346BE4-4C6B-DA47-B7D8-891000DBF510}"/>
              </a:ext>
            </a:extLst>
          </p:cNvPr>
          <p:cNvSpPr>
            <a:spLocks noGrp="1"/>
          </p:cNvSpPr>
          <p:nvPr>
            <p:ph idx="1"/>
          </p:nvPr>
        </p:nvSpPr>
        <p:spPr>
          <a:xfrm>
            <a:off x="838200" y="414338"/>
            <a:ext cx="10515600" cy="5762625"/>
          </a:xfrm>
        </p:spPr>
        <p:txBody>
          <a:bodyPr>
            <a:normAutofit/>
          </a:bodyPr>
          <a:lstStyle/>
          <a:p>
            <a:pPr marL="0" indent="0" algn="ctr">
              <a:buNone/>
            </a:pPr>
            <a:r>
              <a:rPr lang="en-US" b="1" u="sng" dirty="0">
                <a:latin typeface="Garamond" panose="02020404030301010803" pitchFamily="18" charset="0"/>
              </a:rPr>
              <a:t>What is History?</a:t>
            </a:r>
            <a:endParaRPr lang="en-US" dirty="0">
              <a:latin typeface="Garamond" panose="02020404030301010803" pitchFamily="18" charset="0"/>
            </a:endParaRPr>
          </a:p>
          <a:p>
            <a:r>
              <a:rPr lang="en-US" dirty="0">
                <a:latin typeface="Garamond" panose="02020404030301010803" pitchFamily="18" charset="0"/>
              </a:rPr>
              <a:t>History is based on finitude/materiality – the changing forms of matter</a:t>
            </a:r>
          </a:p>
          <a:p>
            <a:pPr lvl="1"/>
            <a:endParaRPr lang="en-US" dirty="0">
              <a:latin typeface="Garamond" panose="02020404030301010803" pitchFamily="18" charset="0"/>
            </a:endParaRPr>
          </a:p>
          <a:p>
            <a:pPr lvl="1"/>
            <a:r>
              <a:rPr lang="en-US" dirty="0">
                <a:latin typeface="Garamond" panose="02020404030301010803" pitchFamily="18" charset="0"/>
              </a:rPr>
              <a:t>matter </a:t>
            </a:r>
            <a:r>
              <a:rPr lang="en-PK" b="0" i="0" dirty="0">
                <a:solidFill>
                  <a:srgbClr val="040C28"/>
                </a:solidFill>
                <a:effectLst/>
                <a:latin typeface="Garamond" panose="02020404030301010803" pitchFamily="18" charset="0"/>
              </a:rPr>
              <a:t>≠ matter: matter is not self-identical: i.e., matter always exists in some</a:t>
            </a:r>
            <a:r>
              <a:rPr lang="en-PK" b="0" i="1" dirty="0">
                <a:solidFill>
                  <a:srgbClr val="040C28"/>
                </a:solidFill>
                <a:effectLst/>
                <a:latin typeface="Garamond" panose="02020404030301010803" pitchFamily="18" charset="0"/>
              </a:rPr>
              <a:t> finite and changing </a:t>
            </a:r>
            <a:r>
              <a:rPr lang="en-PK" b="1" i="1" dirty="0">
                <a:solidFill>
                  <a:srgbClr val="040C28"/>
                </a:solidFill>
                <a:effectLst/>
                <a:latin typeface="Garamond" panose="02020404030301010803" pitchFamily="18" charset="0"/>
              </a:rPr>
              <a:t>form </a:t>
            </a:r>
            <a:r>
              <a:rPr lang="en-PK" i="1" dirty="0">
                <a:solidFill>
                  <a:srgbClr val="040C28"/>
                </a:solidFill>
                <a:effectLst/>
                <a:latin typeface="Garamond" panose="02020404030301010803" pitchFamily="18" charset="0"/>
              </a:rPr>
              <a:t>(eg, language - even facial expressions),</a:t>
            </a:r>
            <a:r>
              <a:rPr lang="en-PK" b="1" i="1" dirty="0">
                <a:solidFill>
                  <a:srgbClr val="040C28"/>
                </a:solidFill>
                <a:effectLst/>
                <a:latin typeface="Garamond" panose="02020404030301010803" pitchFamily="18" charset="0"/>
              </a:rPr>
              <a:t> </a:t>
            </a:r>
            <a:r>
              <a:rPr lang="en-PK" dirty="0">
                <a:solidFill>
                  <a:srgbClr val="040C28"/>
                </a:solidFill>
                <a:effectLst/>
                <a:latin typeface="Garamond" panose="02020404030301010803" pitchFamily="18" charset="0"/>
              </a:rPr>
              <a:t>including linguistic, ideational and conceptual forms</a:t>
            </a:r>
            <a:endParaRPr lang="en-PK" b="1" i="1" dirty="0">
              <a:solidFill>
                <a:srgbClr val="040C28"/>
              </a:solidFill>
              <a:effectLst/>
              <a:latin typeface="Garamond" panose="02020404030301010803" pitchFamily="18" charset="0"/>
            </a:endParaRPr>
          </a:p>
          <a:p>
            <a:pPr lvl="1"/>
            <a:r>
              <a:rPr lang="en-GB" dirty="0">
                <a:solidFill>
                  <a:srgbClr val="040C28"/>
                </a:solidFill>
                <a:latin typeface="Garamond" panose="02020404030301010803" pitchFamily="18" charset="0"/>
              </a:rPr>
              <a:t>materiality implies both:</a:t>
            </a:r>
          </a:p>
          <a:p>
            <a:pPr lvl="2"/>
            <a:r>
              <a:rPr lang="en-GB" i="1" dirty="0">
                <a:solidFill>
                  <a:srgbClr val="040C28"/>
                </a:solidFill>
                <a:latin typeface="Garamond" panose="02020404030301010803" pitchFamily="18" charset="0"/>
              </a:rPr>
              <a:t>continuity</a:t>
            </a:r>
            <a:r>
              <a:rPr lang="en-GB" dirty="0">
                <a:solidFill>
                  <a:srgbClr val="040C28"/>
                </a:solidFill>
                <a:latin typeface="Garamond" panose="02020404030301010803" pitchFamily="18" charset="0"/>
              </a:rPr>
              <a:t> – nothing disappears without a trace: no difference without repetition</a:t>
            </a:r>
          </a:p>
          <a:p>
            <a:pPr lvl="2"/>
            <a:r>
              <a:rPr lang="en-GB" i="1" dirty="0">
                <a:solidFill>
                  <a:srgbClr val="040C28"/>
                </a:solidFill>
                <a:latin typeface="Garamond" panose="02020404030301010803" pitchFamily="18" charset="0"/>
              </a:rPr>
              <a:t>discontinuity – </a:t>
            </a:r>
            <a:r>
              <a:rPr lang="en-GB" dirty="0">
                <a:solidFill>
                  <a:srgbClr val="040C28"/>
                </a:solidFill>
                <a:latin typeface="Garamond" panose="02020404030301010803" pitchFamily="18" charset="0"/>
              </a:rPr>
              <a:t>there is no repetition without difference (against presentism)</a:t>
            </a:r>
            <a:endParaRPr lang="en-GB" i="1" dirty="0">
              <a:solidFill>
                <a:srgbClr val="040C28"/>
              </a:solidFill>
              <a:latin typeface="Garamond" panose="02020404030301010803" pitchFamily="18" charset="0"/>
            </a:endParaRPr>
          </a:p>
          <a:p>
            <a:pPr lvl="1"/>
            <a:r>
              <a:rPr lang="en-GB" dirty="0">
                <a:solidFill>
                  <a:srgbClr val="040C28"/>
                </a:solidFill>
                <a:latin typeface="Garamond" panose="02020404030301010803" pitchFamily="18" charset="0"/>
              </a:rPr>
              <a:t>both similitude </a:t>
            </a:r>
            <a:r>
              <a:rPr lang="en-GB" i="1" dirty="0">
                <a:solidFill>
                  <a:srgbClr val="040C28"/>
                </a:solidFill>
                <a:latin typeface="Garamond" panose="02020404030301010803" pitchFamily="18" charset="0"/>
              </a:rPr>
              <a:t>and</a:t>
            </a:r>
            <a:r>
              <a:rPr lang="en-GB" dirty="0">
                <a:solidFill>
                  <a:srgbClr val="040C28"/>
                </a:solidFill>
                <a:latin typeface="Garamond" panose="02020404030301010803" pitchFamily="18" charset="0"/>
              </a:rPr>
              <a:t> difference are essential to historical investigation</a:t>
            </a:r>
          </a:p>
          <a:p>
            <a:pPr lvl="1"/>
            <a:r>
              <a:rPr lang="en-GB" dirty="0">
                <a:solidFill>
                  <a:srgbClr val="040C28"/>
                </a:solidFill>
                <a:latin typeface="Garamond" panose="02020404030301010803" pitchFamily="18" charset="0"/>
              </a:rPr>
              <a:t>history is about weighing (quantitatively and qualitatively) the </a:t>
            </a:r>
            <a:r>
              <a:rPr lang="en-GB" i="1" dirty="0">
                <a:solidFill>
                  <a:srgbClr val="040C28"/>
                </a:solidFill>
                <a:latin typeface="Garamond" panose="02020404030301010803" pitchFamily="18" charset="0"/>
              </a:rPr>
              <a:t>actual measure</a:t>
            </a:r>
            <a:r>
              <a:rPr lang="en-GB" dirty="0">
                <a:solidFill>
                  <a:srgbClr val="040C28"/>
                </a:solidFill>
                <a:latin typeface="Garamond" panose="02020404030301010803" pitchFamily="18" charset="0"/>
              </a:rPr>
              <a:t>, as well as the </a:t>
            </a:r>
            <a:r>
              <a:rPr lang="en-GB" i="1" dirty="0">
                <a:solidFill>
                  <a:srgbClr val="040C28"/>
                </a:solidFill>
                <a:latin typeface="Garamond" panose="02020404030301010803" pitchFamily="18" charset="0"/>
              </a:rPr>
              <a:t>form </a:t>
            </a:r>
            <a:r>
              <a:rPr lang="en-GB" dirty="0">
                <a:solidFill>
                  <a:srgbClr val="040C28"/>
                </a:solidFill>
                <a:latin typeface="Garamond" panose="02020404030301010803" pitchFamily="18" charset="0"/>
              </a:rPr>
              <a:t>of continuity and discontinuity, similitude and difference, oldness and newness (inheritance/heritage, and history), in each case</a:t>
            </a:r>
          </a:p>
          <a:p>
            <a:pPr lvl="1"/>
            <a:r>
              <a:rPr lang="en-GB" b="1" dirty="0">
                <a:solidFill>
                  <a:srgbClr val="040C28"/>
                </a:solidFill>
                <a:latin typeface="Garamond" panose="02020404030301010803" pitchFamily="18" charset="0"/>
              </a:rPr>
              <a:t>in the modern period discontinuity, difference, history and newness dominate (this does </a:t>
            </a:r>
            <a:r>
              <a:rPr lang="en-GB" b="1" u="sng" dirty="0">
                <a:solidFill>
                  <a:srgbClr val="040C28"/>
                </a:solidFill>
                <a:latin typeface="Garamond" panose="02020404030301010803" pitchFamily="18" charset="0"/>
              </a:rPr>
              <a:t>not</a:t>
            </a:r>
            <a:r>
              <a:rPr lang="en-GB" b="1" dirty="0">
                <a:solidFill>
                  <a:srgbClr val="040C28"/>
                </a:solidFill>
                <a:latin typeface="Garamond" panose="02020404030301010803" pitchFamily="18" charset="0"/>
              </a:rPr>
              <a:t> mean that continuity disappears)</a:t>
            </a:r>
          </a:p>
          <a:p>
            <a:pPr lvl="1"/>
            <a:endParaRPr lang="en-GB" dirty="0">
              <a:solidFill>
                <a:srgbClr val="040C28"/>
              </a:solidFill>
              <a:latin typeface="Garamond" panose="02020404030301010803" pitchFamily="18" charset="0"/>
            </a:endParaRPr>
          </a:p>
          <a:p>
            <a:pPr lvl="1"/>
            <a:endParaRPr lang="en-GB" dirty="0">
              <a:solidFill>
                <a:srgbClr val="040C28"/>
              </a:solidFill>
              <a:latin typeface="Garamond" panose="02020404030301010803" pitchFamily="18" charset="0"/>
            </a:endParaRPr>
          </a:p>
        </p:txBody>
      </p:sp>
    </p:spTree>
    <p:extLst>
      <p:ext uri="{BB962C8B-B14F-4D97-AF65-F5344CB8AC3E}">
        <p14:creationId xmlns:p14="http://schemas.microsoft.com/office/powerpoint/2010/main" val="161235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951C582-4658-9768-2722-EB0466A3ECFF}"/>
              </a:ext>
            </a:extLst>
          </p:cNvPr>
          <p:cNvPicPr>
            <a:picLocks noGrp="1" noChangeAspect="1"/>
          </p:cNvPicPr>
          <p:nvPr>
            <p:ph idx="1"/>
          </p:nvPr>
        </p:nvPicPr>
        <p:blipFill>
          <a:blip r:embed="rId2"/>
          <a:stretch>
            <a:fillRect/>
          </a:stretch>
        </p:blipFill>
        <p:spPr>
          <a:xfrm>
            <a:off x="2352907" y="0"/>
            <a:ext cx="6592382" cy="6859524"/>
          </a:xfrm>
        </p:spPr>
      </p:pic>
      <p:sp>
        <p:nvSpPr>
          <p:cNvPr id="6" name="TextBox 5">
            <a:extLst>
              <a:ext uri="{FF2B5EF4-FFF2-40B4-BE49-F238E27FC236}">
                <a16:creationId xmlns:a16="http://schemas.microsoft.com/office/drawing/2014/main" id="{62287F1D-70FC-B18A-61DA-32BA23C08AC7}"/>
              </a:ext>
            </a:extLst>
          </p:cNvPr>
          <p:cNvSpPr txBox="1"/>
          <p:nvPr/>
        </p:nvSpPr>
        <p:spPr>
          <a:xfrm>
            <a:off x="8945289" y="702527"/>
            <a:ext cx="3246711" cy="646331"/>
          </a:xfrm>
          <a:prstGeom prst="rect">
            <a:avLst/>
          </a:prstGeom>
          <a:noFill/>
        </p:spPr>
        <p:txBody>
          <a:bodyPr wrap="square" rtlCol="0">
            <a:spAutoFit/>
          </a:bodyPr>
          <a:lstStyle/>
          <a:p>
            <a:pPr marL="0" algn="r" defTabSz="914400" rtl="1" eaLnBrk="1" latinLnBrk="0" hangingPunct="1"/>
            <a:r>
              <a:rPr lang="ur-PK" dirty="0">
                <a:latin typeface="Garamond" panose="02020404030301010803" pitchFamily="18" charset="0"/>
              </a:rPr>
              <a:t>ناصر عباس نیر، </a:t>
            </a:r>
            <a:r>
              <a:rPr lang="ur-PK" i="1" dirty="0">
                <a:latin typeface="Garamond" panose="02020404030301010803" pitchFamily="18" charset="0"/>
              </a:rPr>
              <a:t>اردو ادب کی تشکیلِ جدید</a:t>
            </a:r>
            <a:r>
              <a:rPr lang="ur-PK" dirty="0">
                <a:latin typeface="Garamond" panose="02020404030301010803" pitchFamily="18" charset="0"/>
              </a:rPr>
              <a:t>(۲۰۱۶)</a:t>
            </a:r>
            <a:endParaRPr lang="en-PK" dirty="0"/>
          </a:p>
        </p:txBody>
      </p:sp>
    </p:spTree>
    <p:extLst>
      <p:ext uri="{BB962C8B-B14F-4D97-AF65-F5344CB8AC3E}">
        <p14:creationId xmlns:p14="http://schemas.microsoft.com/office/powerpoint/2010/main" val="3618421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94EFDC7-092E-5567-0491-D48189338D4D}"/>
              </a:ext>
            </a:extLst>
          </p:cNvPr>
          <p:cNvPicPr>
            <a:picLocks noGrp="1" noChangeAspect="1"/>
          </p:cNvPicPr>
          <p:nvPr>
            <p:ph idx="1"/>
          </p:nvPr>
        </p:nvPicPr>
        <p:blipFill>
          <a:blip r:embed="rId2"/>
          <a:stretch>
            <a:fillRect/>
          </a:stretch>
        </p:blipFill>
        <p:spPr>
          <a:xfrm>
            <a:off x="4574" y="1037063"/>
            <a:ext cx="12187426" cy="4951142"/>
          </a:xfrm>
        </p:spPr>
      </p:pic>
      <p:sp>
        <p:nvSpPr>
          <p:cNvPr id="6" name="TextBox 5">
            <a:extLst>
              <a:ext uri="{FF2B5EF4-FFF2-40B4-BE49-F238E27FC236}">
                <a16:creationId xmlns:a16="http://schemas.microsoft.com/office/drawing/2014/main" id="{C2A8D996-C7F9-6226-F0B4-5ABE14BDEDFA}"/>
              </a:ext>
            </a:extLst>
          </p:cNvPr>
          <p:cNvSpPr txBox="1"/>
          <p:nvPr/>
        </p:nvSpPr>
        <p:spPr>
          <a:xfrm>
            <a:off x="2018371" y="500463"/>
            <a:ext cx="8697952" cy="369332"/>
          </a:xfrm>
          <a:prstGeom prst="rect">
            <a:avLst/>
          </a:prstGeom>
          <a:noFill/>
        </p:spPr>
        <p:txBody>
          <a:bodyPr wrap="square" rtlCol="0">
            <a:spAutoFit/>
          </a:bodyPr>
          <a:lstStyle/>
          <a:p>
            <a:r>
              <a:rPr lang="en-PK" dirty="0">
                <a:latin typeface="Garamond" panose="02020404030301010803" pitchFamily="18" charset="0"/>
              </a:rPr>
              <a:t>B. N. Pande, </a:t>
            </a:r>
            <a:r>
              <a:rPr lang="en-PK" i="1" dirty="0">
                <a:latin typeface="Garamond" panose="02020404030301010803" pitchFamily="18" charset="0"/>
              </a:rPr>
              <a:t>Islam &amp; Indian Culture </a:t>
            </a:r>
            <a:r>
              <a:rPr lang="en-PK" dirty="0">
                <a:latin typeface="Garamond" panose="02020404030301010803" pitchFamily="18" charset="0"/>
              </a:rPr>
              <a:t>(1990), cited in </a:t>
            </a:r>
            <a:r>
              <a:rPr lang="ur-PK" dirty="0">
                <a:latin typeface="Garamond" panose="02020404030301010803" pitchFamily="18" charset="0"/>
              </a:rPr>
              <a:t>ناصر عباس نیر، </a:t>
            </a:r>
            <a:r>
              <a:rPr lang="ur-PK" i="1" dirty="0">
                <a:latin typeface="Garamond" panose="02020404030301010803" pitchFamily="18" charset="0"/>
              </a:rPr>
              <a:t>اردو ادب کی تشکیلِ جدید</a:t>
            </a:r>
            <a:r>
              <a:rPr lang="ur-PK" dirty="0">
                <a:latin typeface="Garamond" panose="02020404030301010803" pitchFamily="18" charset="0"/>
              </a:rPr>
              <a:t>(۲۰۱۶)</a:t>
            </a:r>
            <a:endParaRPr lang="en-PK" i="1" dirty="0">
              <a:latin typeface="Garamond" panose="02020404030301010803" pitchFamily="18" charset="0"/>
            </a:endParaRPr>
          </a:p>
        </p:txBody>
      </p:sp>
    </p:spTree>
    <p:extLst>
      <p:ext uri="{BB962C8B-B14F-4D97-AF65-F5344CB8AC3E}">
        <p14:creationId xmlns:p14="http://schemas.microsoft.com/office/powerpoint/2010/main" val="38321277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482C61-F695-574A-B96A-EF762DC9C66E}"/>
              </a:ext>
            </a:extLst>
          </p:cNvPr>
          <p:cNvSpPr>
            <a:spLocks noGrp="1"/>
          </p:cNvSpPr>
          <p:nvPr>
            <p:ph idx="1"/>
          </p:nvPr>
        </p:nvSpPr>
        <p:spPr>
          <a:xfrm>
            <a:off x="838200" y="671513"/>
            <a:ext cx="10515600" cy="5505450"/>
          </a:xfrm>
        </p:spPr>
        <p:txBody>
          <a:bodyPr/>
          <a:lstStyle/>
          <a:p>
            <a:pPr marL="0" indent="0" algn="ctr">
              <a:buNone/>
            </a:pPr>
            <a:r>
              <a:rPr lang="en-US" b="1" u="sng" dirty="0">
                <a:latin typeface="Garamond" panose="02020404030301010803" pitchFamily="18" charset="0"/>
              </a:rPr>
              <a:t>The Modern ‘</a:t>
            </a:r>
            <a:r>
              <a:rPr lang="en-US" b="1" u="sng" dirty="0" err="1">
                <a:latin typeface="Garamond" panose="02020404030301010803" pitchFamily="18" charset="0"/>
              </a:rPr>
              <a:t>Parha</a:t>
            </a:r>
            <a:r>
              <a:rPr lang="en-US" b="1" u="sng" dirty="0">
                <a:latin typeface="Garamond" panose="02020404030301010803" pitchFamily="18" charset="0"/>
              </a:rPr>
              <a:t> </a:t>
            </a:r>
            <a:r>
              <a:rPr lang="en-US" b="1" u="sng" dirty="0" err="1">
                <a:latin typeface="Garamond" panose="02020404030301010803" pitchFamily="18" charset="0"/>
              </a:rPr>
              <a:t>Likha</a:t>
            </a:r>
            <a:r>
              <a:rPr lang="en-US" b="1" u="sng" dirty="0">
                <a:latin typeface="Garamond" panose="02020404030301010803" pitchFamily="18" charset="0"/>
              </a:rPr>
              <a:t>’ View of History</a:t>
            </a:r>
          </a:p>
          <a:p>
            <a:r>
              <a:rPr lang="en-US" dirty="0">
                <a:latin typeface="Garamond" panose="02020404030301010803" pitchFamily="18" charset="0"/>
              </a:rPr>
              <a:t>History is the history of </a:t>
            </a:r>
            <a:r>
              <a:rPr lang="en-US" b="1" i="1" dirty="0">
                <a:latin typeface="Garamond" panose="02020404030301010803" pitchFamily="18" charset="0"/>
              </a:rPr>
              <a:t>collective singularities </a:t>
            </a:r>
            <a:r>
              <a:rPr lang="en-US" dirty="0">
                <a:latin typeface="Garamond" panose="02020404030301010803" pitchFamily="18" charset="0"/>
              </a:rPr>
              <a:t>– humanity, civilizations, nations, ethnicities</a:t>
            </a:r>
          </a:p>
          <a:p>
            <a:r>
              <a:rPr lang="en-US" dirty="0">
                <a:latin typeface="Garamond" panose="02020404030301010803" pitchFamily="18" charset="0"/>
              </a:rPr>
              <a:t>These collective singularities have virtually existed time out of mind</a:t>
            </a:r>
          </a:p>
          <a:p>
            <a:r>
              <a:rPr lang="en-US" dirty="0">
                <a:latin typeface="Garamond" panose="02020404030301010803" pitchFamily="18" charset="0"/>
              </a:rPr>
              <a:t>Modernity is the historical age par excellence</a:t>
            </a:r>
          </a:p>
          <a:p>
            <a:r>
              <a:rPr lang="en-US" dirty="0">
                <a:latin typeface="Garamond" panose="02020404030301010803" pitchFamily="18" charset="0"/>
              </a:rPr>
              <a:t>History is a stage, we are (collective-singular) historical actors</a:t>
            </a:r>
          </a:p>
          <a:p>
            <a:r>
              <a:rPr lang="en-US" dirty="0">
                <a:latin typeface="Garamond" panose="02020404030301010803" pitchFamily="18" charset="0"/>
              </a:rPr>
              <a:t>History is the performer as well as the spectator (‘judgment of history’)</a:t>
            </a:r>
          </a:p>
          <a:p>
            <a:r>
              <a:rPr lang="en-US" dirty="0">
                <a:latin typeface="Garamond" panose="02020404030301010803" pitchFamily="18" charset="0"/>
              </a:rPr>
              <a:t>History is about power (social Darwinism) – and power is equal to power (Acton: power corrupts).</a:t>
            </a:r>
          </a:p>
          <a:p>
            <a:pPr lvl="1"/>
            <a:r>
              <a:rPr lang="en-US" i="1" dirty="0">
                <a:latin typeface="Garamond" panose="02020404030301010803" pitchFamily="18" charset="0"/>
              </a:rPr>
              <a:t>But there are forms of power!</a:t>
            </a:r>
          </a:p>
          <a:p>
            <a:pPr lvl="1"/>
            <a:r>
              <a:rPr lang="en-US" i="1" dirty="0">
                <a:latin typeface="Garamond" panose="02020404030301010803" pitchFamily="18" charset="0"/>
              </a:rPr>
              <a:t>A variety of state forms (not to mention non-state societies)</a:t>
            </a:r>
            <a:endParaRPr lang="en-US" dirty="0">
              <a:latin typeface="Garamond" panose="02020404030301010803" pitchFamily="18" charset="0"/>
            </a:endParaRPr>
          </a:p>
        </p:txBody>
      </p:sp>
    </p:spTree>
    <p:extLst>
      <p:ext uri="{BB962C8B-B14F-4D97-AF65-F5344CB8AC3E}">
        <p14:creationId xmlns:p14="http://schemas.microsoft.com/office/powerpoint/2010/main" val="19437101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148461-E931-D342-62ED-4E6FBC700B1E}"/>
              </a:ext>
            </a:extLst>
          </p:cNvPr>
          <p:cNvSpPr>
            <a:spLocks noGrp="1"/>
          </p:cNvSpPr>
          <p:nvPr>
            <p:ph idx="1"/>
          </p:nvPr>
        </p:nvSpPr>
        <p:spPr>
          <a:xfrm>
            <a:off x="838200" y="594360"/>
            <a:ext cx="10515600" cy="5582603"/>
          </a:xfrm>
        </p:spPr>
        <p:txBody>
          <a:bodyPr>
            <a:normAutofit/>
          </a:bodyPr>
          <a:lstStyle/>
          <a:p>
            <a:pPr marL="0" indent="0">
              <a:buNone/>
            </a:pPr>
            <a:r>
              <a:rPr lang="en-GB" sz="4400" dirty="0">
                <a:solidFill>
                  <a:srgbClr val="1E1E1E"/>
                </a:solidFill>
                <a:effectLst/>
                <a:latin typeface="Garamond" panose="02020404030301010803" pitchFamily="18" charset="0"/>
              </a:rPr>
              <a:t>“Only in colonial times would [the word] ‘Islam’ abandon its grammatical role as a </a:t>
            </a:r>
            <a:r>
              <a:rPr lang="en-GB" sz="4400" i="1" dirty="0">
                <a:solidFill>
                  <a:srgbClr val="1E1E1E"/>
                </a:solidFill>
                <a:effectLst/>
                <a:latin typeface="Garamond" panose="02020404030301010803" pitchFamily="18" charset="0"/>
              </a:rPr>
              <a:t>verbal noun</a:t>
            </a:r>
            <a:r>
              <a:rPr lang="en-GB" sz="4400" dirty="0">
                <a:solidFill>
                  <a:srgbClr val="1E1E1E"/>
                </a:solidFill>
                <a:effectLst/>
                <a:latin typeface="Garamond" panose="02020404030301010803" pitchFamily="18" charset="0"/>
              </a:rPr>
              <a:t> describing a set of Muslim practices to become the </a:t>
            </a:r>
            <a:r>
              <a:rPr lang="en-GB" sz="4400" i="1" dirty="0">
                <a:solidFill>
                  <a:srgbClr val="1E1E1E"/>
                </a:solidFill>
                <a:effectLst/>
                <a:latin typeface="Garamond" panose="02020404030301010803" pitchFamily="18" charset="0"/>
              </a:rPr>
              <a:t>proper name of a subject in its own right</a:t>
            </a:r>
            <a:r>
              <a:rPr lang="en-GB" sz="4400" dirty="0">
                <a:solidFill>
                  <a:srgbClr val="1E1E1E"/>
                </a:solidFill>
                <a:effectLst/>
                <a:latin typeface="Garamond" panose="02020404030301010803" pitchFamily="18" charset="0"/>
              </a:rPr>
              <a:t>.”</a:t>
            </a:r>
          </a:p>
          <a:p>
            <a:pPr marL="0" indent="0">
              <a:buNone/>
            </a:pPr>
            <a:endParaRPr lang="en-GB" sz="4400" dirty="0">
              <a:solidFill>
                <a:srgbClr val="1E1E1E"/>
              </a:solidFill>
              <a:effectLst/>
              <a:latin typeface="Garamond" panose="02020404030301010803" pitchFamily="18" charset="0"/>
            </a:endParaRPr>
          </a:p>
          <a:p>
            <a:pPr marL="0" indent="0" algn="r">
              <a:buNone/>
            </a:pPr>
            <a:r>
              <a:rPr lang="en-GB" sz="4400" dirty="0">
                <a:solidFill>
                  <a:srgbClr val="1E1E1E"/>
                </a:solidFill>
                <a:latin typeface="Garamond" panose="02020404030301010803" pitchFamily="18" charset="0"/>
              </a:rPr>
              <a:t>- Faisal Devi, </a:t>
            </a:r>
            <a:r>
              <a:rPr lang="en-GB" sz="4400" i="1" dirty="0">
                <a:solidFill>
                  <a:srgbClr val="1E1E1E"/>
                </a:solidFill>
                <a:latin typeface="Garamond" panose="02020404030301010803" pitchFamily="18" charset="0"/>
              </a:rPr>
              <a:t>End of Islam</a:t>
            </a:r>
            <a:endParaRPr lang="en-GB" sz="4400" dirty="0">
              <a:solidFill>
                <a:srgbClr val="1E1E1E"/>
              </a:solidFill>
              <a:effectLst/>
              <a:latin typeface="Garamond" panose="02020404030301010803" pitchFamily="18" charset="0"/>
            </a:endParaRPr>
          </a:p>
          <a:p>
            <a:endParaRPr lang="en-PK" sz="4400" dirty="0">
              <a:latin typeface="Garamond" panose="02020404030301010803" pitchFamily="18" charset="0"/>
            </a:endParaRPr>
          </a:p>
        </p:txBody>
      </p:sp>
    </p:spTree>
    <p:extLst>
      <p:ext uri="{BB962C8B-B14F-4D97-AF65-F5344CB8AC3E}">
        <p14:creationId xmlns:p14="http://schemas.microsoft.com/office/powerpoint/2010/main" val="30623424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F52CC35-6F31-3CD1-8489-E5CF23CC4805}"/>
              </a:ext>
            </a:extLst>
          </p:cNvPr>
          <p:cNvPicPr>
            <a:picLocks noGrp="1" noChangeAspect="1"/>
          </p:cNvPicPr>
          <p:nvPr>
            <p:ph idx="1"/>
          </p:nvPr>
        </p:nvPicPr>
        <p:blipFill>
          <a:blip r:embed="rId2"/>
          <a:stretch>
            <a:fillRect/>
          </a:stretch>
        </p:blipFill>
        <p:spPr>
          <a:xfrm>
            <a:off x="3520439" y="4932"/>
            <a:ext cx="4996159" cy="6853067"/>
          </a:xfrm>
        </p:spPr>
      </p:pic>
    </p:spTree>
    <p:extLst>
      <p:ext uri="{BB962C8B-B14F-4D97-AF65-F5344CB8AC3E}">
        <p14:creationId xmlns:p14="http://schemas.microsoft.com/office/powerpoint/2010/main" val="39102988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5BE9B32-F16F-645C-BA3E-D30E22FA8566}"/>
              </a:ext>
            </a:extLst>
          </p:cNvPr>
          <p:cNvPicPr>
            <a:picLocks noGrp="1" noChangeAspect="1"/>
          </p:cNvPicPr>
          <p:nvPr>
            <p:ph idx="1"/>
          </p:nvPr>
        </p:nvPicPr>
        <p:blipFill>
          <a:blip r:embed="rId2"/>
          <a:stretch>
            <a:fillRect/>
          </a:stretch>
        </p:blipFill>
        <p:spPr>
          <a:xfrm>
            <a:off x="415084" y="2849880"/>
            <a:ext cx="11361831" cy="356068"/>
          </a:xfrm>
        </p:spPr>
      </p:pic>
    </p:spTree>
    <p:extLst>
      <p:ext uri="{BB962C8B-B14F-4D97-AF65-F5344CB8AC3E}">
        <p14:creationId xmlns:p14="http://schemas.microsoft.com/office/powerpoint/2010/main" val="17719364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2102450-98C2-6EE2-52A1-4228B0233037}"/>
              </a:ext>
            </a:extLst>
          </p:cNvPr>
          <p:cNvPicPr>
            <a:picLocks noGrp="1" noChangeAspect="1"/>
          </p:cNvPicPr>
          <p:nvPr>
            <p:ph idx="1"/>
          </p:nvPr>
        </p:nvPicPr>
        <p:blipFill>
          <a:blip r:embed="rId2"/>
          <a:stretch>
            <a:fillRect/>
          </a:stretch>
        </p:blipFill>
        <p:spPr>
          <a:xfrm>
            <a:off x="3947160" y="86976"/>
            <a:ext cx="4495800" cy="6789576"/>
          </a:xfrm>
        </p:spPr>
      </p:pic>
    </p:spTree>
    <p:extLst>
      <p:ext uri="{BB962C8B-B14F-4D97-AF65-F5344CB8AC3E}">
        <p14:creationId xmlns:p14="http://schemas.microsoft.com/office/powerpoint/2010/main" val="7798222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0D473AB-8C26-331A-6AAA-73121A640307}"/>
              </a:ext>
            </a:extLst>
          </p:cNvPr>
          <p:cNvPicPr>
            <a:picLocks noGrp="1" noChangeAspect="1"/>
          </p:cNvPicPr>
          <p:nvPr>
            <p:ph idx="1"/>
          </p:nvPr>
        </p:nvPicPr>
        <p:blipFill>
          <a:blip r:embed="rId2"/>
          <a:stretch>
            <a:fillRect/>
          </a:stretch>
        </p:blipFill>
        <p:spPr>
          <a:xfrm>
            <a:off x="2927582" y="0"/>
            <a:ext cx="6185937" cy="6863609"/>
          </a:xfrm>
        </p:spPr>
      </p:pic>
    </p:spTree>
    <p:extLst>
      <p:ext uri="{BB962C8B-B14F-4D97-AF65-F5344CB8AC3E}">
        <p14:creationId xmlns:p14="http://schemas.microsoft.com/office/powerpoint/2010/main" val="35010155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2E0A848-D6DB-F250-6455-512943BB77E1}"/>
              </a:ext>
            </a:extLst>
          </p:cNvPr>
          <p:cNvPicPr>
            <a:picLocks noGrp="1" noChangeAspect="1"/>
          </p:cNvPicPr>
          <p:nvPr>
            <p:ph idx="1"/>
          </p:nvPr>
        </p:nvPicPr>
        <p:blipFill>
          <a:blip r:embed="rId2"/>
          <a:stretch>
            <a:fillRect/>
          </a:stretch>
        </p:blipFill>
        <p:spPr>
          <a:xfrm>
            <a:off x="1030374" y="0"/>
            <a:ext cx="9774786" cy="6857172"/>
          </a:xfrm>
        </p:spPr>
      </p:pic>
    </p:spTree>
    <p:extLst>
      <p:ext uri="{BB962C8B-B14F-4D97-AF65-F5344CB8AC3E}">
        <p14:creationId xmlns:p14="http://schemas.microsoft.com/office/powerpoint/2010/main" val="8078014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6698</TotalTime>
  <Words>618</Words>
  <Application>Microsoft Macintosh PowerPoint</Application>
  <PresentationFormat>Widescreen</PresentationFormat>
  <Paragraphs>33</Paragraphs>
  <Slides>34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Calibri Light</vt:lpstr>
      <vt:lpstr>Garamond</vt:lpstr>
      <vt:lpstr>Office Theme</vt:lpstr>
      <vt:lpstr>Core 201: Pakistan &amp; Modern South Asia (Modernity in South Asia)  Week 1 The Abyss of National History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 example of Pakistan’s ‘manifest destiny’ – a quote from Zulfikar Ali Bhutto, speaking from the floor of the National Assembly on 16 March 1966 (in the wake of the debacle of the 1965 war): </vt:lpstr>
      <vt:lpstr>PowerPoint Presentation</vt:lpstr>
      <vt:lpstr>PowerPoint Presentation</vt:lpstr>
      <vt:lpstr>PowerPoint Presentation</vt:lpstr>
      <vt:lpstr>PowerPoint Presentation</vt:lpstr>
      <vt:lpstr>PowerPoint Presentation</vt:lpstr>
      <vt:lpstr>PowerPoint Presentation</vt:lpstr>
      <vt:lpstr>Core 201: Pakistan &amp; Modern South Asia (Modernity in South Asia)</vt:lpstr>
      <vt:lpstr>  Week 1:  What is History? &amp; Habib University’s Postcolonial Liberal Arts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Core 102: What is Modernity?</dc:title>
  <dc:creator>Microsoft Office User</dc:creator>
  <cp:lastModifiedBy>Syed Nauman Naqvi</cp:lastModifiedBy>
  <cp:revision>33</cp:revision>
  <dcterms:created xsi:type="dcterms:W3CDTF">2020-03-16T07:17:29Z</dcterms:created>
  <dcterms:modified xsi:type="dcterms:W3CDTF">2025-08-18T15:22:27Z</dcterms:modified>
</cp:coreProperties>
</file>