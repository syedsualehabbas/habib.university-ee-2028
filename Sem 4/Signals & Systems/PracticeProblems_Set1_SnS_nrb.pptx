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441" r:id="rId2"/>
    <p:sldId id="411" r:id="rId3"/>
    <p:sldId id="442" r:id="rId4"/>
    <p:sldId id="443" r:id="rId5"/>
    <p:sldId id="444" r:id="rId6"/>
    <p:sldId id="445" r:id="rId7"/>
    <p:sldId id="446" r:id="rId8"/>
    <p:sldId id="447" r:id="rId9"/>
    <p:sldId id="448" r:id="rId10"/>
    <p:sldId id="449" r:id="rId11"/>
    <p:sldId id="487" r:id="rId12"/>
    <p:sldId id="488" r:id="rId13"/>
    <p:sldId id="451" r:id="rId14"/>
    <p:sldId id="452" r:id="rId15"/>
    <p:sldId id="453" r:id="rId16"/>
    <p:sldId id="454" r:id="rId17"/>
    <p:sldId id="455" r:id="rId18"/>
    <p:sldId id="456" r:id="rId19"/>
    <p:sldId id="489" r:id="rId20"/>
    <p:sldId id="457" r:id="rId21"/>
    <p:sldId id="458" r:id="rId22"/>
    <p:sldId id="461" r:id="rId23"/>
    <p:sldId id="462" r:id="rId24"/>
    <p:sldId id="459" r:id="rId25"/>
    <p:sldId id="460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3D95"/>
    <a:srgbClr val="FF0000"/>
    <a:srgbClr val="00B05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92641-FC75-45C3-8D47-536C151759F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3A2CF-DF2B-4F3F-B38E-5071B71777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080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A8579-4EB4-4F7A-A522-DA09A8C769BB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24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A7EB-DBC6-440C-A0DB-1E00054EA610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98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514F-C5C5-49F7-81D8-1625E69287FF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80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F6EC-E743-4C29-82DA-AEAA501CAA02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16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0045E-2BBD-4B83-B5D2-C841A60ECFF6}" type="datetime1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4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2A77-43B4-48E6-9E65-2196DF2FD90B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58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02470-B154-4000-8C4B-3341EFAD92C9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29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2E7-4FEA-474A-9AC6-EC4DE4826D80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11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632-599E-42C3-9DE5-CDBCFCD62D1A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20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38DB-86BF-48F5-8591-28E0EDF08DE4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637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AA321-3CCD-4198-A474-0E310A6BADBC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17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AD146-E00F-487A-917C-250C1AFFE964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3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1213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EE/CE 252/251</a:t>
            </a:r>
            <a:br>
              <a:rPr lang="en-US" dirty="0"/>
            </a:br>
            <a:r>
              <a:rPr lang="en-US" dirty="0"/>
              <a:t>Signals and Systems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1213" y="403465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</a:t>
            </a:r>
          </a:p>
          <a:p>
            <a:r>
              <a:rPr lang="en-US" b="1" dirty="0"/>
              <a:t>Dr. Naveed R. Butt</a:t>
            </a:r>
          </a:p>
          <a:p>
            <a:r>
              <a:rPr lang="en-US" dirty="0"/>
              <a:t>@</a:t>
            </a:r>
          </a:p>
          <a:p>
            <a:r>
              <a:rPr lang="en-US" b="1" dirty="0"/>
              <a:t>Habib University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16884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928638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1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1E9ECA-A366-48B8-8579-F3EA155270C5}"/>
              </a:ext>
            </a:extLst>
          </p:cNvPr>
          <p:cNvSpPr txBox="1"/>
          <p:nvPr/>
        </p:nvSpPr>
        <p:spPr>
          <a:xfrm>
            <a:off x="2953407" y="570368"/>
            <a:ext cx="529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the signal shown plot the following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D23C9-1387-4546-9479-0D9FDCC3D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54" y="1972660"/>
            <a:ext cx="7029450" cy="2324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897E02-B227-483B-988D-8F0EDDA14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329" y="570368"/>
            <a:ext cx="142875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52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770802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B5EC957-5414-46F5-9101-367B05A7B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904" y="570368"/>
            <a:ext cx="3857625" cy="2600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0DE1DC-F19C-41A9-87D9-FE27DBCB8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87" y="3534796"/>
            <a:ext cx="743902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9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4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442188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2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14B47C1-8CB2-4D47-A85F-1F70AF54D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244615"/>
            <a:ext cx="10458450" cy="2095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EFA277-A81E-4456-AFA7-86F3CFF765E2}"/>
                  </a:ext>
                </a:extLst>
              </p:cNvPr>
              <p:cNvSpPr txBox="1"/>
              <p:nvPr/>
            </p:nvSpPr>
            <p:spPr>
              <a:xfrm>
                <a:off x="2953407" y="570368"/>
                <a:ext cx="38467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in terms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EFA277-A81E-4456-AFA7-86F3CFF7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407" y="570368"/>
                <a:ext cx="3846786" cy="400110"/>
              </a:xfrm>
              <a:prstGeom prst="rect">
                <a:avLst/>
              </a:prstGeom>
              <a:blipFill>
                <a:blip r:embed="rId3"/>
                <a:stretch>
                  <a:fillRect l="-158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602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D34209B-5B0E-4D4A-B2AE-EB656FC55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824037"/>
            <a:ext cx="118300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3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1515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3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525F4E-CD50-4E8B-9AC8-54A4B26A2761}"/>
                  </a:ext>
                </a:extLst>
              </p:cNvPr>
              <p:cNvSpPr txBox="1"/>
              <p:nvPr/>
            </p:nvSpPr>
            <p:spPr>
              <a:xfrm>
                <a:off x="2879834" y="434579"/>
                <a:ext cx="514744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Consider an energy signal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. Which of the following operations will not change its energy?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525F4E-CD50-4E8B-9AC8-54A4B26A2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834" y="434579"/>
                <a:ext cx="5147441" cy="707886"/>
              </a:xfrm>
              <a:prstGeom prst="rect">
                <a:avLst/>
              </a:prstGeom>
              <a:blipFill>
                <a:blip r:embed="rId2"/>
                <a:stretch>
                  <a:fillRect l="-1183" t="-4310" r="-473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C4A8F5C-8A8E-4A69-8049-471F4EF9B628}"/>
              </a:ext>
            </a:extLst>
          </p:cNvPr>
          <p:cNvSpPr txBox="1"/>
          <p:nvPr/>
        </p:nvSpPr>
        <p:spPr>
          <a:xfrm>
            <a:off x="4225158" y="1810415"/>
            <a:ext cx="47611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Time-shifting</a:t>
            </a:r>
          </a:p>
          <a:p>
            <a:pPr marL="342900" indent="-342900">
              <a:buAutoNum type="arabicPeriod"/>
            </a:pPr>
            <a:r>
              <a:rPr lang="en-US" sz="2000" dirty="0"/>
              <a:t>Time-reversal</a:t>
            </a:r>
          </a:p>
          <a:p>
            <a:pPr marL="342900" indent="-342900">
              <a:buAutoNum type="arabicPeriod"/>
            </a:pPr>
            <a:r>
              <a:rPr lang="en-US" sz="2000" dirty="0"/>
              <a:t>Time-compression</a:t>
            </a:r>
          </a:p>
          <a:p>
            <a:pPr marL="342900" indent="-342900">
              <a:buAutoNum type="arabicPeriod"/>
            </a:pPr>
            <a:r>
              <a:rPr lang="en-US" sz="2000" dirty="0"/>
              <a:t>Time-expansion</a:t>
            </a:r>
          </a:p>
          <a:p>
            <a:pPr marL="342900" indent="-342900">
              <a:buAutoNum type="arabicPeriod"/>
            </a:pPr>
            <a:r>
              <a:rPr lang="en-US" sz="2000" dirty="0"/>
              <a:t>Amplitude-scaling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189534-A3FB-4292-BCB1-C6917A3AF8AB}"/>
              </a:ext>
            </a:extLst>
          </p:cNvPr>
          <p:cNvSpPr txBox="1"/>
          <p:nvPr/>
        </p:nvSpPr>
        <p:spPr>
          <a:xfrm>
            <a:off x="2974429" y="4309241"/>
            <a:ext cx="227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Justify your claims.</a:t>
            </a:r>
          </a:p>
        </p:txBody>
      </p:sp>
    </p:spTree>
    <p:extLst>
      <p:ext uri="{BB962C8B-B14F-4D97-AF65-F5344CB8AC3E}">
        <p14:creationId xmlns:p14="http://schemas.microsoft.com/office/powerpoint/2010/main" val="170216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7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93941E7-A6A1-4469-8A7A-AD02D3D6B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072" y="796232"/>
            <a:ext cx="6200454" cy="526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77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8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690386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4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10C6164-F6BF-4056-9F98-788AFAD13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8" y="1862959"/>
            <a:ext cx="52673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09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9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F4F2C85-DC0E-4754-9C1C-E8DC3FAE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224" y="1607918"/>
            <a:ext cx="837247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4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10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583162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5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A2E58D1-2B85-4289-B11B-83FE48056F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590"/>
          <a:stretch/>
        </p:blipFill>
        <p:spPr>
          <a:xfrm>
            <a:off x="3049642" y="615038"/>
            <a:ext cx="5924550" cy="8038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74C29C-D591-4CB0-9406-567070F72B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590"/>
          <a:stretch/>
        </p:blipFill>
        <p:spPr>
          <a:xfrm>
            <a:off x="3049642" y="1659355"/>
            <a:ext cx="5924550" cy="80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29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846B96A-25B3-4520-B75C-77CE5A84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346200"/>
            <a:ext cx="1080135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18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46E242A-BB24-4732-828B-1255528F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396" y="370161"/>
            <a:ext cx="4972050" cy="1009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622899-16EB-4D64-B1B9-FD4532A1A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" y="2292732"/>
            <a:ext cx="100298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5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13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357438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6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9A36FA0-76B0-48D6-87A8-ABEFABAB2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73" y="1527942"/>
            <a:ext cx="5686425" cy="83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51A50A-BEF6-4231-9608-B71200905ECC}"/>
                  </a:ext>
                </a:extLst>
              </p:cNvPr>
              <p:cNvSpPr txBox="1"/>
              <p:nvPr/>
            </p:nvSpPr>
            <p:spPr>
              <a:xfrm>
                <a:off x="7388772" y="1811721"/>
                <a:ext cx="3352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periodic?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51A50A-BEF6-4231-9608-B71200905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772" y="1811721"/>
                <a:ext cx="3352800" cy="461665"/>
              </a:xfrm>
              <a:prstGeom prst="rect">
                <a:avLst/>
              </a:prstGeom>
              <a:blipFill>
                <a:blip r:embed="rId3"/>
                <a:stretch>
                  <a:fillRect l="-272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910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14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A00F393-0EE2-44FA-AB52-B31F9FDD530F}"/>
              </a:ext>
            </a:extLst>
          </p:cNvPr>
          <p:cNvSpPr txBox="1"/>
          <p:nvPr/>
        </p:nvSpPr>
        <p:spPr>
          <a:xfrm>
            <a:off x="704193" y="1690062"/>
            <a:ext cx="37416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the sum of two signals to be periodic</a:t>
            </a:r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Both signals must be periodic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Their periods must have an LCM (i.e., ratio of the periods should be rational).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742950" lvl="1" indent="-285750">
              <a:buFontTx/>
              <a:buChar char="-"/>
            </a:pPr>
            <a:r>
              <a:rPr lang="en-US" sz="2000" dirty="0"/>
              <a:t>If the above hold, the LCM is the period of the sum.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EB0518-1DA6-4725-ACB2-A67CFD17628F}"/>
                  </a:ext>
                </a:extLst>
              </p:cNvPr>
              <p:cNvSpPr txBox="1"/>
              <p:nvPr/>
            </p:nvSpPr>
            <p:spPr>
              <a:xfrm>
                <a:off x="6201103" y="625419"/>
                <a:ext cx="3184634" cy="762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We know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periodic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EB0518-1DA6-4725-ACB2-A67CFD176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103" y="625419"/>
                <a:ext cx="3184634" cy="762516"/>
              </a:xfrm>
              <a:prstGeom prst="rect">
                <a:avLst/>
              </a:prstGeom>
              <a:blipFill>
                <a:blip r:embed="rId2"/>
                <a:stretch>
                  <a:fillRect l="-1530" t="-48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17A58D-C699-4769-BE2E-6308D3DAC8E1}"/>
                  </a:ext>
                </a:extLst>
              </p:cNvPr>
              <p:cNvSpPr txBox="1"/>
              <p:nvPr/>
            </p:nvSpPr>
            <p:spPr>
              <a:xfrm>
                <a:off x="6274676" y="2270234"/>
                <a:ext cx="32897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17A58D-C699-4769-BE2E-6308D3DAC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676" y="2270234"/>
                <a:ext cx="3289738" cy="369332"/>
              </a:xfrm>
              <a:prstGeom prst="rect">
                <a:avLst/>
              </a:prstGeom>
              <a:blipFill>
                <a:blip r:embed="rId3"/>
                <a:stretch>
                  <a:fillRect l="-148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1988B0-14BD-4FB9-9A43-CCDEA2D96EF9}"/>
                  </a:ext>
                </a:extLst>
              </p:cNvPr>
              <p:cNvSpPr txBox="1"/>
              <p:nvPr/>
            </p:nvSpPr>
            <p:spPr>
              <a:xfrm>
                <a:off x="6505903" y="3163614"/>
                <a:ext cx="3962400" cy="518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which is not rational.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1988B0-14BD-4FB9-9A43-CCDEA2D96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903" y="3163614"/>
                <a:ext cx="3962400" cy="518475"/>
              </a:xfrm>
              <a:prstGeom prst="rect">
                <a:avLst/>
              </a:prstGeom>
              <a:blipFill>
                <a:blip r:embed="rId4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149171-46D4-4BF6-8F17-C69FAC563E97}"/>
                  </a:ext>
                </a:extLst>
              </p:cNvPr>
              <p:cNvSpPr txBox="1"/>
              <p:nvPr/>
            </p:nvSpPr>
            <p:spPr>
              <a:xfrm>
                <a:off x="6745013" y="4257483"/>
                <a:ext cx="3237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not periodic.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149171-46D4-4BF6-8F17-C69FAC563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013" y="4257483"/>
                <a:ext cx="3237187" cy="369332"/>
              </a:xfrm>
              <a:prstGeom prst="rect">
                <a:avLst/>
              </a:prstGeom>
              <a:blipFill>
                <a:blip r:embed="rId5"/>
                <a:stretch>
                  <a:fillRect l="-150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292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15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466098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7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1DDB1E6-5C47-45AD-8E69-534769628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86" y="1679848"/>
            <a:ext cx="4438650" cy="2657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F4F8D-9BC3-405A-8AB4-622C40CFF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6" y="2052637"/>
            <a:ext cx="38385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54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F8ABAFA-2919-4E17-AB10-D60E8849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87" y="1533031"/>
            <a:ext cx="69818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57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17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342802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8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312EE81-EEA0-435C-8581-EDDDD569F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901382"/>
            <a:ext cx="3922985" cy="5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15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18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50F7F05-179A-42B5-9506-0E754C125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18227"/>
            <a:ext cx="10363200" cy="392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56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19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4187F7F-AE9E-4185-8C81-CEED267FF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628" y="2017822"/>
            <a:ext cx="17145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80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20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930410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9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C072FDB-073F-4B06-A2C1-D24E230B8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6" y="1731743"/>
            <a:ext cx="2200275" cy="2238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6A1F283-845A-4409-A342-DF167E91A32E}"/>
                  </a:ext>
                </a:extLst>
              </p:cNvPr>
              <p:cNvSpPr txBox="1"/>
              <p:nvPr/>
            </p:nvSpPr>
            <p:spPr>
              <a:xfrm>
                <a:off x="2903483" y="570368"/>
                <a:ext cx="57071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Find area under the given functions for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−2&lt;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6A1F283-845A-4409-A342-DF167E91A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483" y="570368"/>
                <a:ext cx="5707117" cy="400110"/>
              </a:xfrm>
              <a:prstGeom prst="rect">
                <a:avLst/>
              </a:prstGeom>
              <a:blipFill>
                <a:blip r:embed="rId3"/>
                <a:stretch>
                  <a:fillRect l="-1067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222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57C6BAA-5CF8-40AC-BCF4-706DC2EDB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6" y="1731743"/>
            <a:ext cx="2200275" cy="2238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D332DF-A1D1-449B-9E27-28452F8D5174}"/>
              </a:ext>
            </a:extLst>
          </p:cNvPr>
          <p:cNvSpPr txBox="1"/>
          <p:nvPr/>
        </p:nvSpPr>
        <p:spPr>
          <a:xfrm>
            <a:off x="5358469" y="2850930"/>
            <a:ext cx="2200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(since impulse is not within region of integration)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CF2B51-4C19-4699-8F42-DADA35BFE230}"/>
                  </a:ext>
                </a:extLst>
              </p:cNvPr>
              <p:cNvSpPr txBox="1"/>
              <p:nvPr/>
            </p:nvSpPr>
            <p:spPr>
              <a:xfrm>
                <a:off x="4801421" y="4467025"/>
                <a:ext cx="25891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CF2B51-4C19-4699-8F42-DADA35BFE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421" y="4467025"/>
                <a:ext cx="258915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0AB8D3-A52F-4CFF-9ED3-A5ADA221BCCF}"/>
                  </a:ext>
                </a:extLst>
              </p:cNvPr>
              <p:cNvSpPr txBox="1"/>
              <p:nvPr/>
            </p:nvSpPr>
            <p:spPr>
              <a:xfrm>
                <a:off x="4801421" y="1634177"/>
                <a:ext cx="2459420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0AB8D3-A52F-4CFF-9ED3-A5ADA221B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421" y="1634177"/>
                <a:ext cx="2459420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431E0F5-5A85-4B37-B3ED-B1344DACA00C}"/>
              </a:ext>
            </a:extLst>
          </p:cNvPr>
          <p:cNvCxnSpPr>
            <a:endCxn id="9" idx="1"/>
          </p:cNvCxnSpPr>
          <p:nvPr/>
        </p:nvCxnSpPr>
        <p:spPr>
          <a:xfrm>
            <a:off x="3846786" y="1991518"/>
            <a:ext cx="95463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79B8AC-9E69-45F6-B1A3-DBF5D3347385}"/>
              </a:ext>
            </a:extLst>
          </p:cNvPr>
          <p:cNvCxnSpPr/>
          <p:nvPr/>
        </p:nvCxnSpPr>
        <p:spPr>
          <a:xfrm>
            <a:off x="3710152" y="2850930"/>
            <a:ext cx="1524000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8D1F33-4056-408D-8C79-9D230A8227C1}"/>
              </a:ext>
            </a:extLst>
          </p:cNvPr>
          <p:cNvCxnSpPr/>
          <p:nvPr/>
        </p:nvCxnSpPr>
        <p:spPr>
          <a:xfrm>
            <a:off x="3710152" y="3774260"/>
            <a:ext cx="1648317" cy="692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549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22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86876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10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3A3EC4F-6B50-458D-8121-366FD0EC8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734" y="1006677"/>
            <a:ext cx="2124075" cy="514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CD4963-6CFE-42E0-8E3E-8DBA28517F8A}"/>
              </a:ext>
            </a:extLst>
          </p:cNvPr>
          <p:cNvSpPr txBox="1"/>
          <p:nvPr/>
        </p:nvSpPr>
        <p:spPr>
          <a:xfrm>
            <a:off x="1577671" y="2081048"/>
            <a:ext cx="457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this a power or energy signal? Find both.</a:t>
            </a:r>
          </a:p>
        </p:txBody>
      </p:sp>
    </p:spTree>
    <p:extLst>
      <p:ext uri="{BB962C8B-B14F-4D97-AF65-F5344CB8AC3E}">
        <p14:creationId xmlns:p14="http://schemas.microsoft.com/office/powerpoint/2010/main" val="3880196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23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6F31DC-496B-411C-9F9A-0B92BFF489DF}"/>
                  </a:ext>
                </a:extLst>
              </p:cNvPr>
              <p:cNvSpPr txBox="1"/>
              <p:nvPr/>
            </p:nvSpPr>
            <p:spPr>
              <a:xfrm>
                <a:off x="2343807" y="1760241"/>
                <a:ext cx="5990897" cy="3337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sz="2000" dirty="0"/>
                  <a:t>This function is periodic with period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sz="2000" b="0" dirty="0"/>
              </a:p>
              <a:p>
                <a:pPr marL="285750" indent="-285750">
                  <a:buFontTx/>
                  <a:buChar char="-"/>
                </a:pPr>
                <a:endParaRPr lang="en-US" sz="2000" dirty="0"/>
              </a:p>
              <a:p>
                <a:pPr marL="285750" indent="-285750">
                  <a:buFontTx/>
                  <a:buChar char="-"/>
                </a:pPr>
                <a:r>
                  <a:rPr lang="en-US" sz="2000" dirty="0"/>
                  <a:t>Periodic signals have infinite energy and therefore cannot be energy signals.</a:t>
                </a:r>
              </a:p>
              <a:p>
                <a:pPr marL="285750" indent="-285750">
                  <a:buFontTx/>
                  <a:buChar char="-"/>
                </a:pPr>
                <a:endParaRPr lang="en-US" sz="2000" dirty="0"/>
              </a:p>
              <a:p>
                <a:pPr marL="285750" indent="-285750">
                  <a:buFontTx/>
                  <a:buChar char="-"/>
                </a:pPr>
                <a:r>
                  <a:rPr lang="en-US" sz="2000" dirty="0"/>
                  <a:t>We can use power formula for periodic signal to integrate the function over one whole period and divide by the period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000" b="0" dirty="0"/>
              </a:p>
              <a:p>
                <a:pPr marL="285750" indent="-285750">
                  <a:buFontTx/>
                  <a:buChar char="-"/>
                </a:pPr>
                <a:endParaRPr lang="en-US" sz="2000" dirty="0"/>
              </a:p>
              <a:p>
                <a:pPr marL="285750" indent="-285750">
                  <a:buFontTx/>
                  <a:buChar char="-"/>
                </a:pPr>
                <a:r>
                  <a:rPr lang="en-US" sz="2000" dirty="0"/>
                  <a:t>This would give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6F31DC-496B-411C-9F9A-0B92BFF4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807" y="1760241"/>
                <a:ext cx="5990897" cy="3337517"/>
              </a:xfrm>
              <a:prstGeom prst="rect">
                <a:avLst/>
              </a:prstGeom>
              <a:blipFill>
                <a:blip r:embed="rId2"/>
                <a:stretch>
                  <a:fillRect l="-1119" b="-2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690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24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096108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11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F5FDCCB-E175-417A-8849-3E349EF1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2124075"/>
            <a:ext cx="7658100" cy="2609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10E653-B569-4178-A102-B44A66FC3AAF}"/>
              </a:ext>
            </a:extLst>
          </p:cNvPr>
          <p:cNvSpPr txBox="1"/>
          <p:nvPr/>
        </p:nvSpPr>
        <p:spPr>
          <a:xfrm>
            <a:off x="3247696" y="378372"/>
            <a:ext cx="4905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Are the following signals energy signals or power signals? Find their energy and power.</a:t>
            </a:r>
          </a:p>
        </p:txBody>
      </p:sp>
    </p:spTree>
    <p:extLst>
      <p:ext uri="{BB962C8B-B14F-4D97-AF65-F5344CB8AC3E}">
        <p14:creationId xmlns:p14="http://schemas.microsoft.com/office/powerpoint/2010/main" val="4084919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25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CEDBCF0-C405-4893-A240-0CE4B22D8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1759826"/>
            <a:ext cx="5010150" cy="1257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A23928-C785-4E08-BDA5-463897AFCC2F}"/>
              </a:ext>
            </a:extLst>
          </p:cNvPr>
          <p:cNvSpPr txBox="1"/>
          <p:nvPr/>
        </p:nvSpPr>
        <p:spPr>
          <a:xfrm>
            <a:off x="1671145" y="3668110"/>
            <a:ext cx="6939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Both are energy signals as their energies are finite.</a:t>
            </a:r>
          </a:p>
          <a:p>
            <a:pPr marL="285750" indent="-285750">
              <a:buFontTx/>
              <a:buChar char="-"/>
            </a:pPr>
            <a:r>
              <a:rPr lang="en-US" dirty="0"/>
              <a:t>Power of an energy signal is always zero.</a:t>
            </a:r>
          </a:p>
        </p:txBody>
      </p:sp>
    </p:spTree>
    <p:extLst>
      <p:ext uri="{BB962C8B-B14F-4D97-AF65-F5344CB8AC3E}">
        <p14:creationId xmlns:p14="http://schemas.microsoft.com/office/powerpoint/2010/main" val="3657624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80852" y="6356351"/>
            <a:ext cx="6154993" cy="191933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26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Questions?? Thoughts??</a:t>
            </a:r>
            <a:endParaRPr lang="en-GB" dirty="0"/>
          </a:p>
        </p:txBody>
      </p:sp>
      <p:pic>
        <p:nvPicPr>
          <p:cNvPr id="8" name="Picture 4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614" y="1828800"/>
            <a:ext cx="2018909" cy="391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054" y="1710353"/>
            <a:ext cx="2018909" cy="391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162" y="1690688"/>
            <a:ext cx="2018909" cy="391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91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3692</TotalTime>
  <Words>718</Words>
  <Application>Microsoft Office PowerPoint</Application>
  <PresentationFormat>Widescreen</PresentationFormat>
  <Paragraphs>116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EE/CE 252/251 Signals and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Questions?? Thoughts??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</dc:title>
  <dc:creator>nrb</dc:creator>
  <cp:lastModifiedBy>Naveed Razzaq Butt</cp:lastModifiedBy>
  <cp:revision>536</cp:revision>
  <dcterms:created xsi:type="dcterms:W3CDTF">2019-01-05T09:45:28Z</dcterms:created>
  <dcterms:modified xsi:type="dcterms:W3CDTF">2026-02-02T06:32:41Z</dcterms:modified>
</cp:coreProperties>
</file>