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2"/>
  </p:notesMasterIdLst>
  <p:sldIdLst>
    <p:sldId id="441" r:id="rId2"/>
    <p:sldId id="445" r:id="rId3"/>
    <p:sldId id="446" r:id="rId4"/>
    <p:sldId id="465" r:id="rId5"/>
    <p:sldId id="466" r:id="rId6"/>
    <p:sldId id="451" r:id="rId7"/>
    <p:sldId id="471" r:id="rId8"/>
    <p:sldId id="452" r:id="rId9"/>
    <p:sldId id="472" r:id="rId10"/>
    <p:sldId id="453" r:id="rId11"/>
    <p:sldId id="454" r:id="rId12"/>
    <p:sldId id="473" r:id="rId13"/>
    <p:sldId id="474" r:id="rId14"/>
    <p:sldId id="475" r:id="rId15"/>
    <p:sldId id="457" r:id="rId16"/>
    <p:sldId id="458" r:id="rId17"/>
    <p:sldId id="477" r:id="rId18"/>
    <p:sldId id="459" r:id="rId19"/>
    <p:sldId id="460" r:id="rId20"/>
    <p:sldId id="478" r:id="rId21"/>
    <p:sldId id="461" r:id="rId22"/>
    <p:sldId id="462" r:id="rId23"/>
    <p:sldId id="455" r:id="rId24"/>
    <p:sldId id="476" r:id="rId25"/>
    <p:sldId id="456" r:id="rId26"/>
    <p:sldId id="463" r:id="rId27"/>
    <p:sldId id="464" r:id="rId28"/>
    <p:sldId id="411" r:id="rId29"/>
    <p:sldId id="442" r:id="rId30"/>
    <p:sldId id="443" r:id="rId31"/>
    <p:sldId id="444" r:id="rId32"/>
    <p:sldId id="447" r:id="rId33"/>
    <p:sldId id="448" r:id="rId34"/>
    <p:sldId id="467" r:id="rId35"/>
    <p:sldId id="468" r:id="rId36"/>
    <p:sldId id="469" r:id="rId37"/>
    <p:sldId id="449" r:id="rId38"/>
    <p:sldId id="450" r:id="rId39"/>
    <p:sldId id="470" r:id="rId40"/>
    <p:sldId id="276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3D95"/>
    <a:srgbClr val="FF0000"/>
    <a:srgbClr val="00B050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92641-FC75-45C3-8D47-536C151759FE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3A2CF-DF2B-4F3F-B38E-5071B71777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080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A8579-4EB4-4F7A-A522-DA09A8C769BB}" type="datetime1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0247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6A7EB-DBC6-440C-A0DB-1E00054EA610}" type="datetime1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2987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2514F-C5C5-49F7-81D8-1625E69287FF}" type="datetime1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6800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3F6EC-E743-4C29-82DA-AEAA501CAA02}" type="datetime1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9162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0045E-2BBD-4B83-B5D2-C841A60ECFF6}" type="datetime1">
              <a:rPr lang="en-GB" smtClean="0"/>
              <a:t>12/02/2026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493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2A77-43B4-48E6-9E65-2196DF2FD90B}" type="datetime1">
              <a:rPr lang="en-GB" smtClean="0"/>
              <a:t>12/02/2026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2589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02470-B154-4000-8C4B-3341EFAD92C9}" type="datetime1">
              <a:rPr lang="en-GB" smtClean="0"/>
              <a:t>12/02/2026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1290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52E7-4FEA-474A-9AC6-EC4DE4826D80}" type="datetime1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1114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2F632-599E-42C3-9DE5-CDBCFCD62D1A}" type="datetime1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208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A38DB-86BF-48F5-8591-28E0EDF08DE4}" type="datetime1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0637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AA321-3CCD-4198-A474-0E310A6BADBC}" type="datetime1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170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AD146-E00F-487A-917C-250C1AFFE964}" type="datetime1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BAF47-7A36-4150-8422-4C02C0B9FD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3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25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47.png"/><Relationship Id="rId4" Type="http://schemas.openxmlformats.org/officeDocument/2006/relationships/image" Target="../media/image22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7" Type="http://schemas.openxmlformats.org/officeDocument/2006/relationships/image" Target="../media/image310.png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0.png"/><Relationship Id="rId5" Type="http://schemas.openxmlformats.org/officeDocument/2006/relationships/image" Target="../media/image290.png"/><Relationship Id="rId4" Type="http://schemas.openxmlformats.org/officeDocument/2006/relationships/image" Target="../media/image28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7" Type="http://schemas.openxmlformats.org/officeDocument/2006/relationships/image" Target="../media/image380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5" Type="http://schemas.openxmlformats.org/officeDocument/2006/relationships/image" Target="../media/image360.png"/><Relationship Id="rId4" Type="http://schemas.openxmlformats.org/officeDocument/2006/relationships/image" Target="../media/image35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1213" y="1041400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EE/CE 252/251</a:t>
            </a:r>
            <a:br>
              <a:rPr lang="en-US" dirty="0"/>
            </a:br>
            <a:r>
              <a:rPr lang="en-US" dirty="0"/>
              <a:t>Signals and Systems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1213" y="4034658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with</a:t>
            </a:r>
          </a:p>
          <a:p>
            <a:r>
              <a:rPr lang="en-US" b="1" dirty="0"/>
              <a:t>Dr. Naveed R. Butt</a:t>
            </a:r>
          </a:p>
          <a:p>
            <a:r>
              <a:rPr lang="en-US" dirty="0"/>
              <a:t>@</a:t>
            </a:r>
          </a:p>
          <a:p>
            <a:r>
              <a:rPr lang="en-US" b="1" dirty="0"/>
              <a:t>Habib University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168843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2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 </a:t>
                      </a:r>
                    </a:p>
                  </a:txBody>
                  <a:tcPr marL="114300" marR="11430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6163A2-C8A9-4395-B261-528BA5DA450B}"/>
                  </a:ext>
                </a:extLst>
              </p:cNvPr>
              <p:cNvSpPr txBox="1"/>
              <p:nvPr/>
            </p:nvSpPr>
            <p:spPr>
              <a:xfrm>
                <a:off x="1213945" y="1531664"/>
                <a:ext cx="9764110" cy="16555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Consider the system defined by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𝑦</m:t>
                    </m:r>
                    <m:d>
                      <m:d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𝑆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func>
                      <m:func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𝜔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−1</m:t>
                        </m:r>
                      </m:e>
                    </m:d>
                    <m:r>
                      <m:rPr>
                        <m:sty m:val="p"/>
                      </m:rPr>
                      <a:rPr lang="en-US" sz="24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sin</m:t>
                    </m:r>
                    <m:r>
                      <a:rPr lang="en-US" sz="24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⁡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𝜔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𝜔</m:t>
                    </m:r>
                  </m:oMath>
                </a14:m>
                <a:r>
                  <a:rPr lang="en-US" sz="24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is a non-zero constant.</a:t>
                </a:r>
                <a:r>
                  <a:rPr lang="en-US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Determine whether this system is </a:t>
                </a:r>
                <a:r>
                  <a:rPr lang="en-GB" sz="2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(a) Memoryless (b) Causal (c) Linear (d) Time-Invariant, (e) BIBO Stable</a:t>
                </a:r>
                <a:r>
                  <a:rPr lang="en-GB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. Provide proper justifications (w.r.t given system) for your answers.</a:t>
                </a:r>
                <a:endPara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6163A2-C8A9-4395-B261-528BA5DA4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945" y="1531664"/>
                <a:ext cx="9764110" cy="1655518"/>
              </a:xfrm>
              <a:prstGeom prst="rect">
                <a:avLst/>
              </a:prstGeom>
              <a:blipFill>
                <a:blip r:embed="rId2"/>
                <a:stretch>
                  <a:fillRect l="-936" t="-2574" b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2889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3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E75010-F948-47BC-B9DF-6ED240BAD341}"/>
                  </a:ext>
                </a:extLst>
              </p:cNvPr>
              <p:cNvSpPr txBox="1"/>
              <p:nvPr/>
            </p:nvSpPr>
            <p:spPr>
              <a:xfrm>
                <a:off x="1240220" y="1371624"/>
                <a:ext cx="9816663" cy="46614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(a) Not memoryless, since output depends on a past value also.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(b) Causal, since output does not require any future input.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(c) </a:t>
                </a:r>
                <a:r>
                  <a:rPr lang="en-GB" dirty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F</a:t>
                </a:r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or linearity we have to show that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𝑆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{</m:t>
                          </m:r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}+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𝑆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{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}</m:t>
                      </m:r>
                    </m:oMath>
                  </m:oMathPara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Let’s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𝑆</m:t>
                        </m:r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{</m:t>
                        </m:r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𝑆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{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}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𝑆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and plug in the above to see if the equality holds. We have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{</m:t>
                          </m:r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}</m:t>
                      </m:r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{</m:t>
                          </m:r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}</m:t>
                      </m:r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dirty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And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𝑆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𝑡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))</m:t>
                      </m:r>
                      <m:func>
                        <m:func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𝜔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−1</m:t>
                          </m:r>
                        </m:e>
                      </m:d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𝑡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−1))</m:t>
                      </m:r>
                      <m:r>
                        <m:rPr>
                          <m:sty m:val="p"/>
                        </m:rP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sin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⁡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𝜔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𝑡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Plugging the above three in the test condition shows that it holds. Therefore, system is linear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E75010-F948-47BC-B9DF-6ED240BAD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220" y="1371624"/>
                <a:ext cx="9816663" cy="4661469"/>
              </a:xfrm>
              <a:prstGeom prst="rect">
                <a:avLst/>
              </a:prstGeom>
              <a:blipFill>
                <a:blip r:embed="rId2"/>
                <a:stretch>
                  <a:fillRect l="-497" t="-523" b="-1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3953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4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7D9162-A575-4FF5-84FA-922E6DE4E9C2}"/>
                  </a:ext>
                </a:extLst>
              </p:cNvPr>
              <p:cNvSpPr txBox="1"/>
              <p:nvPr/>
            </p:nvSpPr>
            <p:spPr>
              <a:xfrm>
                <a:off x="987972" y="1404886"/>
                <a:ext cx="9543394" cy="28959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(d) For time-invariance, we have to show that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𝑦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GB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𝑆</m:t>
                    </m:r>
                    <m:r>
                      <a:rPr lang="en-GB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{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GB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and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𝑆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GB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  <m:r>
                              <a:rPr lang="en-GB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GB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GB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GB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−</m:t>
                    </m:r>
                    <m:sSub>
                      <m:sSubPr>
                        <m:ctrlP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. Let’s check: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𝑦</m:t>
                      </m:r>
                      <m:d>
                        <m:d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GB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GB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𝑆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GB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𝑥</m:t>
                      </m:r>
                      <m:d>
                        <m:d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func>
                        <m:func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𝜔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𝑥</m:t>
                      </m:r>
                      <m:d>
                        <m:d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−1</m:t>
                          </m:r>
                        </m:e>
                      </m:d>
                      <m:func>
                        <m:func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𝜔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0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𝑆</m:t>
                      </m:r>
                      <m:r>
                        <a:rPr lang="en-US" sz="20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{</m:t>
                      </m:r>
                      <m:r>
                        <a:rPr lang="en-US" sz="20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𝑥</m:t>
                      </m:r>
                      <m:d>
                        <m:dPr>
                          <m:ctrlP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}</m:t>
                      </m:r>
                      <m:r>
                        <a:rPr lang="en-GB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 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𝑥</m:t>
                      </m:r>
                      <m:d>
                        <m:d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𝜔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𝑥</m:t>
                      </m:r>
                      <m:d>
                        <m:d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−1−</m:t>
                          </m:r>
                          <m:sSub>
                            <m:sSub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0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sin</m:t>
                      </m:r>
                      <m:r>
                        <a:rPr lang="en-US" sz="20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⁡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𝜔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𝑡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)</m:t>
                      </m:r>
                      <m:r>
                        <a:rPr lang="en-US" sz="20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 </m:t>
                      </m:r>
                    </m:oMath>
                  </m:oMathPara>
                </a14:m>
                <a:endPara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And </a:t>
                </a:r>
              </a:p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𝑦</m:t>
                      </m:r>
                      <m:d>
                        <m:d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GB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GB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𝑥</m:t>
                      </m:r>
                      <m:d>
                        <m:d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𝜔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𝜔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𝑥</m:t>
                      </m:r>
                      <m:d>
                        <m:d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−1−</m:t>
                          </m:r>
                          <m:sSub>
                            <m:sSub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𝜔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𝜔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0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≠</m:t>
                      </m:r>
                      <m:sSub>
                        <m:sSubPr>
                          <m:ctrlP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sz="20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𝑡</m:t>
                      </m:r>
                      <m:r>
                        <a:rPr lang="en-US" sz="20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Which leads to the conclusion that the given system is not time-invariant.</a:t>
                </a:r>
                <a:endPara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7D9162-A575-4FF5-84FA-922E6DE4E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972" y="1404886"/>
                <a:ext cx="9543394" cy="2895921"/>
              </a:xfrm>
              <a:prstGeom prst="rect">
                <a:avLst/>
              </a:prstGeom>
              <a:blipFill>
                <a:blip r:embed="rId2"/>
                <a:stretch>
                  <a:fillRect l="-1724" t="-17227" b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773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5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7DFE5F5-4348-4285-BA52-D6A4FFE9BAC5}"/>
                  </a:ext>
                </a:extLst>
              </p:cNvPr>
              <p:cNvSpPr txBox="1"/>
              <p:nvPr/>
            </p:nvSpPr>
            <p:spPr>
              <a:xfrm>
                <a:off x="1240221" y="2001396"/>
                <a:ext cx="8807669" cy="3327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(e) We start by noticing that 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𝜔</m:t>
                                  </m:r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𝜔</m:t>
                                  </m:r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  <m:func>
                          <m:func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𝜔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|</m:t>
                            </m:r>
                          </m:e>
                        </m:func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+|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−1</m:t>
                            </m:r>
                          </m:e>
                        </m:d>
                        <m:func>
                          <m:func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𝜔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   (since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𝑎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</m:d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+|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|)</m:t>
                    </m:r>
                  </m:oMath>
                </a14:m>
                <a:r>
                  <a:rPr lang="en-US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 </a:t>
                </a:r>
                <a:endPara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|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+|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   (since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|</m:t>
                    </m:r>
                    <m:func>
                      <m:func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𝜔</m:t>
                            </m:r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|≤1</m:t>
                        </m:r>
                      </m:e>
                    </m:func>
                  </m:oMath>
                </a14:m>
                <a:r>
                  <a:rPr lang="en-US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|</m:t>
                    </m:r>
                    <m:func>
                      <m:func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𝜔</m:t>
                            </m:r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|≤1</m:t>
                        </m:r>
                      </m:e>
                    </m:func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GB" sz="20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Which leads to the conclusion that the output is bounded as long as the input is bounded. Thus the system is BIBO stable.</a:t>
                </a:r>
                <a:endPara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7DFE5F5-4348-4285-BA52-D6A4FFE9B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221" y="2001396"/>
                <a:ext cx="8807669" cy="3327834"/>
              </a:xfrm>
              <a:prstGeom prst="rect">
                <a:avLst/>
              </a:prstGeom>
              <a:blipFill>
                <a:blip r:embed="rId2"/>
                <a:stretch>
                  <a:fillRect l="-692" t="-73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5928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6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 </a:t>
                      </a:r>
                    </a:p>
                  </a:txBody>
                  <a:tcPr marL="114300" marR="11430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5DD0AAB0-531C-4196-BDFE-12E5D1E9F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372" y="1329530"/>
            <a:ext cx="10594428" cy="78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5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7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AACA75E1-A51A-474C-9526-B7C72EBEA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399" y="788522"/>
            <a:ext cx="8243887" cy="49534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3F22A6-161A-49EF-8948-00A3561A388A}"/>
              </a:ext>
            </a:extLst>
          </p:cNvPr>
          <p:cNvSpPr txBox="1"/>
          <p:nvPr/>
        </p:nvSpPr>
        <p:spPr>
          <a:xfrm>
            <a:off x="314542" y="2304393"/>
            <a:ext cx="27514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Homogeneity and additivity both tested here for practice. Otherwise, we know that even if one of the two fails, the system is nonlinear.</a:t>
            </a:r>
          </a:p>
        </p:txBody>
      </p:sp>
    </p:spTree>
    <p:extLst>
      <p:ext uri="{BB962C8B-B14F-4D97-AF65-F5344CB8AC3E}">
        <p14:creationId xmlns:p14="http://schemas.microsoft.com/office/powerpoint/2010/main" val="4152009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8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3162D5-859C-419D-8879-D1EDB06D9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227" y="1269852"/>
            <a:ext cx="9762139" cy="319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718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9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A36C05-E45F-4B8F-A17C-F5692DE3E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48" y="513858"/>
            <a:ext cx="10938904" cy="29151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1E99BA-D048-49A0-BE3B-A236F6907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48" y="3718691"/>
            <a:ext cx="1102995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942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10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 </a:t>
                      </a:r>
                    </a:p>
                  </a:txBody>
                  <a:tcPr marL="114300" marR="11430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14EA628-8F57-434F-A097-17D93EA5F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751" y="1475140"/>
            <a:ext cx="8473637" cy="27166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6CF3E9-789A-4152-BFB5-4F99C03256B2}"/>
                  </a:ext>
                </a:extLst>
              </p:cNvPr>
              <p:cNvSpPr txBox="1"/>
              <p:nvPr/>
            </p:nvSpPr>
            <p:spPr>
              <a:xfrm>
                <a:off x="2785241" y="4714399"/>
                <a:ext cx="66215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Use sliding-tape method to find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6CF3E9-789A-4152-BFB5-4F99C0325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241" y="4714399"/>
                <a:ext cx="6621517" cy="461665"/>
              </a:xfrm>
              <a:prstGeom prst="rect">
                <a:avLst/>
              </a:prstGeom>
              <a:blipFill>
                <a:blip r:embed="rId3"/>
                <a:stretch>
                  <a:fillRect l="-147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9843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11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8908FDF-388F-49D2-B840-94B226DEDDE6}"/>
              </a:ext>
            </a:extLst>
          </p:cNvPr>
          <p:cNvSpPr txBox="1"/>
          <p:nvPr/>
        </p:nvSpPr>
        <p:spPr>
          <a:xfrm>
            <a:off x="3581401" y="451945"/>
            <a:ext cx="5688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1: Write the two sequences on tapes such that their zeros align (insert zeros in a given function if required)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567C60-029E-4117-A9DE-946321AFE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725" y="1513818"/>
            <a:ext cx="5467350" cy="15811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B4BD72-7380-4E26-BA60-408C4EECE891}"/>
              </a:ext>
            </a:extLst>
          </p:cNvPr>
          <p:cNvSpPr txBox="1"/>
          <p:nvPr/>
        </p:nvSpPr>
        <p:spPr>
          <a:xfrm>
            <a:off x="399393" y="3393701"/>
            <a:ext cx="8597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2: Flip any one of them (since convolution is commutative) about the aligned axis.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87664B-3598-4CDA-84BF-5DAB3F114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17" y="4462134"/>
            <a:ext cx="6629400" cy="13811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A66FB6-D4CA-4113-AD9E-96C7ACDAE69A}"/>
                  </a:ext>
                </a:extLst>
              </p:cNvPr>
              <p:cNvSpPr txBox="1"/>
              <p:nvPr/>
            </p:nvSpPr>
            <p:spPr>
              <a:xfrm>
                <a:off x="7827579" y="4506365"/>
                <a:ext cx="394400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Step 3: Get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en-US" dirty="0"/>
                  <a:t> by multiplying overlapping cells and adding the result.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A66FB6-D4CA-4113-AD9E-96C7ACDAE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7579" y="4506365"/>
                <a:ext cx="3944007" cy="646331"/>
              </a:xfrm>
              <a:prstGeom prst="rect">
                <a:avLst/>
              </a:prstGeom>
              <a:blipFill>
                <a:blip r:embed="rId4"/>
                <a:stretch>
                  <a:fillRect l="-1236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E1CD47-5FDF-441B-AE0F-AE3756B8F6FE}"/>
                  </a:ext>
                </a:extLst>
              </p:cNvPr>
              <p:cNvSpPr txBox="1"/>
              <p:nvPr/>
            </p:nvSpPr>
            <p:spPr>
              <a:xfrm>
                <a:off x="7199588" y="5344182"/>
                <a:ext cx="457199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Step 4: Slide flipped one to the right by one step and repeat to get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[1]</m:t>
                    </m:r>
                  </m:oMath>
                </a14:m>
                <a:r>
                  <a:rPr lang="en-US" dirty="0"/>
                  <a:t> and slide to left by one and repeat to get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[−1]</m:t>
                    </m:r>
                  </m:oMath>
                </a14:m>
                <a:r>
                  <a:rPr lang="en-US" dirty="0"/>
                  <a:t> etc.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E1CD47-5FDF-441B-AE0F-AE3756B8F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9588" y="5344182"/>
                <a:ext cx="4571998" cy="923330"/>
              </a:xfrm>
              <a:prstGeom prst="rect">
                <a:avLst/>
              </a:prstGeom>
              <a:blipFill>
                <a:blip r:embed="rId5"/>
                <a:stretch>
                  <a:fillRect l="-1067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6788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12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602820-19F0-4B0D-BE08-B5FFF664C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695" y="620111"/>
            <a:ext cx="5499011" cy="11456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27101A-2374-4912-ADF5-10CCBA2FC3C1}"/>
                  </a:ext>
                </a:extLst>
              </p:cNvPr>
              <p:cNvSpPr txBox="1"/>
              <p:nvPr/>
            </p:nvSpPr>
            <p:spPr>
              <a:xfrm>
                <a:off x="7998372" y="2501462"/>
                <a:ext cx="351045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Sliding left will give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27101A-2374-4912-ADF5-10CCBA2FC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8372" y="2501462"/>
                <a:ext cx="3510456" cy="646331"/>
              </a:xfrm>
              <a:prstGeom prst="rect">
                <a:avLst/>
              </a:prstGeom>
              <a:blipFill>
                <a:blip r:embed="rId3"/>
                <a:stretch>
                  <a:fillRect l="-1389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3FF71A72-CF4D-4D9E-87E9-41785BEA2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1255" y="1891862"/>
            <a:ext cx="5426806" cy="416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093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13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F7346C-918F-4C75-B33E-EB739729F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380" y="1379981"/>
            <a:ext cx="4451129" cy="8738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7602820-19F0-4B0D-BE08-B5FFF664C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255" y="498098"/>
            <a:ext cx="4233040" cy="8818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0CC4E57-4CB6-4397-BB29-1B61766AA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7794" y="2264703"/>
            <a:ext cx="3848212" cy="43726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27101A-2374-4912-ADF5-10CCBA2FC3C1}"/>
                  </a:ext>
                </a:extLst>
              </p:cNvPr>
              <p:cNvSpPr txBox="1"/>
              <p:nvPr/>
            </p:nvSpPr>
            <p:spPr>
              <a:xfrm>
                <a:off x="7998372" y="2501462"/>
                <a:ext cx="351045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Sliding right will give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27101A-2374-4912-ADF5-10CCBA2FC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8372" y="2501462"/>
                <a:ext cx="3510456" cy="646331"/>
              </a:xfrm>
              <a:prstGeom prst="rect">
                <a:avLst/>
              </a:prstGeom>
              <a:blipFill>
                <a:blip r:embed="rId5"/>
                <a:stretch>
                  <a:fillRect l="-1389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4861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14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CED0AE-E839-4585-81D4-E31E44EDF8F3}"/>
              </a:ext>
            </a:extLst>
          </p:cNvPr>
          <p:cNvSpPr txBox="1"/>
          <p:nvPr/>
        </p:nvSpPr>
        <p:spPr>
          <a:xfrm>
            <a:off x="1145628" y="777766"/>
            <a:ext cx="5160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5: Once we have all the non-zero values, we can plot the result…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5A743E-13F8-454C-ACFF-4A66D689F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789" y="2144275"/>
            <a:ext cx="649605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301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15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 </a:t>
                      </a:r>
                    </a:p>
                  </a:txBody>
                  <a:tcPr marL="114300" marR="11430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B7D0BA2-94F9-4958-A57F-A8FF1CA56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826" y="1471448"/>
            <a:ext cx="7021774" cy="226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318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16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6596D62-0AA6-490C-909A-0D003A4FC83B}"/>
                  </a:ext>
                </a:extLst>
              </p:cNvPr>
              <p:cNvSpPr txBox="1"/>
              <p:nvPr/>
            </p:nvSpPr>
            <p:spPr>
              <a:xfrm>
                <a:off x="1460937" y="1629103"/>
                <a:ext cx="8650015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Tx/>
                  <a:buChar char="-"/>
                </a:pPr>
                <a:r>
                  <a:rPr lang="en-US" sz="2400" dirty="0"/>
                  <a:t>We first note that the given system can be easily shown to be LTI. Therefore output of this system to any input is simply the convolution</a:t>
                </a:r>
              </a:p>
              <a:p>
                <a:pPr marL="800100" lvl="1" indent="-34290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/>
              </a:p>
              <a:p>
                <a:pPr marL="800100" lvl="1" indent="-342900">
                  <a:buFontTx/>
                  <a:buChar char="-"/>
                </a:pPr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is the input,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the impulse response.</a:t>
                </a:r>
              </a:p>
              <a:p>
                <a:pPr marL="800100" lvl="1" indent="-342900">
                  <a:buFontTx/>
                  <a:buChar char="-"/>
                </a:pPr>
                <a:endParaRPr lang="en-US" sz="2400" dirty="0"/>
              </a:p>
              <a:p>
                <a:pPr marL="342900" indent="-342900">
                  <a:buFontTx/>
                  <a:buChar char="-"/>
                </a:pPr>
                <a:r>
                  <a:rPr lang="en-US" sz="2400" dirty="0"/>
                  <a:t>Next, we find the system impulse response by setting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400" b="0" dirty="0"/>
              </a:p>
              <a:p>
                <a:pPr marL="342900" indent="-342900">
                  <a:buFontTx/>
                  <a:buChar char="-"/>
                </a:pPr>
                <a:endParaRPr lang="en-US" sz="2400" b="0" dirty="0"/>
              </a:p>
              <a:p>
                <a:pPr marL="800100" lvl="1" indent="-34290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6596D62-0AA6-490C-909A-0D003A4FC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937" y="1629103"/>
                <a:ext cx="8650015" cy="3785652"/>
              </a:xfrm>
              <a:prstGeom prst="rect">
                <a:avLst/>
              </a:prstGeom>
              <a:blipFill>
                <a:blip r:embed="rId2"/>
                <a:stretch>
                  <a:fillRect l="-1128" t="-1449" r="-705" b="-2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299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17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6596D62-0AA6-490C-909A-0D003A4FC83B}"/>
                  </a:ext>
                </a:extLst>
              </p:cNvPr>
              <p:cNvSpPr txBox="1"/>
              <p:nvPr/>
            </p:nvSpPr>
            <p:spPr>
              <a:xfrm>
                <a:off x="1460937" y="1629103"/>
                <a:ext cx="865001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Tx/>
                  <a:buChar char="-"/>
                </a:pPr>
                <a:r>
                  <a:rPr lang="en-US" sz="2400" dirty="0"/>
                  <a:t>Finally, we find the output of the system to the given input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6596D62-0AA6-490C-909A-0D003A4FC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937" y="1629103"/>
                <a:ext cx="8650015" cy="830997"/>
              </a:xfrm>
              <a:prstGeom prst="rect">
                <a:avLst/>
              </a:prstGeom>
              <a:blipFill>
                <a:blip r:embed="rId2"/>
                <a:stretch>
                  <a:fillRect l="-1128" t="-6569" b="-8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0797C5-A2DC-44C5-8A54-D24731007446}"/>
                  </a:ext>
                </a:extLst>
              </p:cNvPr>
              <p:cNvSpPr txBox="1"/>
              <p:nvPr/>
            </p:nvSpPr>
            <p:spPr>
              <a:xfrm>
                <a:off x="1770992" y="3059668"/>
                <a:ext cx="86500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0797C5-A2DC-44C5-8A54-D24731007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992" y="3059668"/>
                <a:ext cx="8650015" cy="369332"/>
              </a:xfrm>
              <a:prstGeom prst="rect">
                <a:avLst/>
              </a:prstGeom>
              <a:blipFill>
                <a:blip r:embed="rId3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DB1602-D770-4B76-8E17-88F63E106EE1}"/>
                  </a:ext>
                </a:extLst>
              </p:cNvPr>
              <p:cNvSpPr txBox="1"/>
              <p:nvPr/>
            </p:nvSpPr>
            <p:spPr>
              <a:xfrm>
                <a:off x="4981903" y="3846786"/>
                <a:ext cx="37942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DB1602-D770-4B76-8E17-88F63E106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903" y="3846786"/>
                <a:ext cx="3794235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06A3CF-5B97-443D-9E80-5ADBCF70C11A}"/>
                  </a:ext>
                </a:extLst>
              </p:cNvPr>
              <p:cNvSpPr txBox="1"/>
              <p:nvPr/>
            </p:nvSpPr>
            <p:spPr>
              <a:xfrm>
                <a:off x="1135117" y="4750676"/>
                <a:ext cx="854491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Note: in the above we have used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Distributive property of convolution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Fact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identity of convolution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Shifting property of convolution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06A3CF-5B97-443D-9E80-5ADBCF70C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117" y="4750676"/>
                <a:ext cx="8544911" cy="1200329"/>
              </a:xfrm>
              <a:prstGeom prst="rect">
                <a:avLst/>
              </a:prstGeom>
              <a:blipFill>
                <a:blip r:embed="rId5"/>
                <a:stretch>
                  <a:fillRect l="-571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7422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18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 </a:t>
                      </a:r>
                    </a:p>
                  </a:txBody>
                  <a:tcPr marL="114300" marR="11430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1D3714-2112-4B59-BFED-355DAEE52DCC}"/>
                  </a:ext>
                </a:extLst>
              </p:cNvPr>
              <p:cNvSpPr txBox="1"/>
              <p:nvPr/>
            </p:nvSpPr>
            <p:spPr>
              <a:xfrm>
                <a:off x="3048000" y="1370582"/>
                <a:ext cx="6096000" cy="41220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Consider the DT LTI system with input </a:t>
                </a: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and output </a:t>
                </a: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𝑛</m:t>
                          </m:r>
                        </m:e>
                      </m:d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𝑛</m:t>
                          </m:r>
                        </m:e>
                      </m:d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[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𝑛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−1]</m:t>
                      </m:r>
                    </m:oMath>
                  </m:oMathPara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Assume that the impulse response of the system satisfies </a:t>
                </a: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e>
                    </m:d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=0, 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𝑘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&lt;0</m:t>
                    </m:r>
                  </m:oMath>
                </a14:m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(a) Find values of </a:t>
                </a: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h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[0]</m:t>
                    </m:r>
                  </m:oMath>
                </a14:m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1</m:t>
                        </m:r>
                      </m:e>
                    </m:d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h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[2]</m:t>
                    </m:r>
                  </m:oMath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(b) Find a general simplified formulation of </a:t>
                </a: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h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(c) Use </a:t>
                </a: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h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to check whether the system is causal.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(d) Use </a:t>
                </a: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h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to check whether the system is memoryless.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(e) Use </a:t>
                </a: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h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to check whether the system is BIBO stable.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Justify your answers mathematically.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1D3714-2112-4B59-BFED-355DAEE52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370582"/>
                <a:ext cx="6096000" cy="4122090"/>
              </a:xfrm>
              <a:prstGeom prst="rect">
                <a:avLst/>
              </a:prstGeom>
              <a:blipFill>
                <a:blip r:embed="rId2"/>
                <a:stretch>
                  <a:fillRect l="-800" t="-740" b="-1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5838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19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199A7E-E12B-4626-9CAA-D2F9102326A7}"/>
                  </a:ext>
                </a:extLst>
              </p:cNvPr>
              <p:cNvSpPr txBox="1"/>
              <p:nvPr/>
            </p:nvSpPr>
            <p:spPr>
              <a:xfrm>
                <a:off x="3048000" y="1523348"/>
                <a:ext cx="6096000" cy="3816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Let the input be an impulse </a:t>
                </a: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</m:d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𝛿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then the output is impulse response </a:t>
                </a: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</m:d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h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leading to 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𝑛</m:t>
                          </m:r>
                        </m:e>
                      </m:d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𝛿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𝑛</m:t>
                          </m:r>
                        </m:e>
                      </m:d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h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[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𝑛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−1]</m:t>
                      </m:r>
                    </m:oMath>
                  </m:oMathPara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(a) From the above, we get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0</m:t>
                          </m:r>
                        </m:e>
                      </m:d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𝛿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0</m:t>
                          </m:r>
                        </m:e>
                      </m:d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−1</m:t>
                          </m:r>
                        </m:e>
                      </m:d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𝛿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0</m:t>
                          </m:r>
                        </m:e>
                      </m:d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=1</m:t>
                      </m:r>
                    </m:oMath>
                  </m:oMathPara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e>
                      </m:d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𝛿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e>
                      </m:d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0</m:t>
                          </m:r>
                        </m:e>
                      </m:d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=0+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e>
                      </m:d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𝛿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e>
                      </m:d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e>
                      </m:d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=0+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×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199A7E-E12B-4626-9CAA-D2F910232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523348"/>
                <a:ext cx="6096000" cy="3816558"/>
              </a:xfrm>
              <a:prstGeom prst="rect">
                <a:avLst/>
              </a:prstGeom>
              <a:blipFill>
                <a:blip r:embed="rId2"/>
                <a:stretch>
                  <a:fillRect l="-800" t="-7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3375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20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23E2B58-E751-4716-A0C9-B6DAD8B1614F}"/>
                  </a:ext>
                </a:extLst>
              </p:cNvPr>
              <p:cNvSpPr txBox="1"/>
              <p:nvPr/>
            </p:nvSpPr>
            <p:spPr>
              <a:xfrm>
                <a:off x="1387366" y="798787"/>
                <a:ext cx="7756634" cy="5030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(b) Extending the solution of (a) and using the unit step function, we may write </a:t>
                </a: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h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as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𝑛</m:t>
                          </m:r>
                        </m:e>
                      </m:d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𝑢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[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𝑛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(c) A DT LTI system is causal if </a:t>
                </a: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</m:d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=0, 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&lt;0</m:t>
                    </m:r>
                  </m:oMath>
                </a14:m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which is the case here. The system is therefore causal.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(d) A DT LTI system is memoryless if </a:t>
                </a: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</m:d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=0, 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≠0</m:t>
                    </m:r>
                  </m:oMath>
                </a14:m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which is not that case here. The system is therefore not memoryless.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(e) A DT LTI system is BIBO stable if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  <m:sup/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|</m:t>
                        </m:r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h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e>
                        </m:d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|</m:t>
                        </m:r>
                      </m:e>
                    </m:nary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&lt;∞</m:t>
                    </m:r>
                  </m:oMath>
                </a14:m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For the current system, this leads to a truncated geometric series with ratio </a:t>
                </a: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𝑟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which is a convergent series. The system is therefore stable.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23E2B58-E751-4716-A0C9-B6DAD8B16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366" y="798787"/>
                <a:ext cx="7756634" cy="5030736"/>
              </a:xfrm>
              <a:prstGeom prst="rect">
                <a:avLst/>
              </a:prstGeom>
              <a:blipFill>
                <a:blip r:embed="rId2"/>
                <a:stretch>
                  <a:fillRect l="-708" t="-485" r="-393" b="-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532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21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 </a:t>
                      </a:r>
                    </a:p>
                  </a:txBody>
                  <a:tcPr marL="114300" marR="11430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15B933C-EBEC-4009-A217-49F76BC6F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0" y="1981200"/>
            <a:ext cx="66294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618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22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5745648B-F477-414E-8F7F-DF6F49914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1257300"/>
            <a:ext cx="977265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315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23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 </a:t>
                      </a:r>
                    </a:p>
                  </a:txBody>
                  <a:tcPr marL="114300" marR="11430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AB1A6B5-59C7-4064-BD05-382AC22CD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250" y="1722711"/>
            <a:ext cx="4667250" cy="7429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35820E4-AC17-42A3-884D-48BB3667D2D8}"/>
                  </a:ext>
                </a:extLst>
              </p:cNvPr>
              <p:cNvSpPr txBox="1"/>
              <p:nvPr/>
            </p:nvSpPr>
            <p:spPr>
              <a:xfrm>
                <a:off x="2995448" y="570368"/>
                <a:ext cx="620110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 DT LTI system has impulse response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and is given an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 Use convolution table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35820E4-AC17-42A3-884D-48BB3667D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5448" y="570368"/>
                <a:ext cx="6201104" cy="646331"/>
              </a:xfrm>
              <a:prstGeom prst="rect">
                <a:avLst/>
              </a:prstGeom>
              <a:blipFill>
                <a:blip r:embed="rId3"/>
                <a:stretch>
                  <a:fillRect l="-786" t="-5660" r="-295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4FBAC14-B094-4721-AB5B-745BF77DF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8099" y="2572095"/>
            <a:ext cx="22955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756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24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985974-7F3B-4A2A-9DC3-0A42B8E12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712796"/>
            <a:ext cx="7183656" cy="501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8056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25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5119454-DE9D-405B-9AC7-6E9F491C9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375" y="581227"/>
            <a:ext cx="8269007" cy="365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56446A-1C75-41A7-B905-053D95803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4634" y="1448678"/>
            <a:ext cx="7290232" cy="482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0114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26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 </a:t>
                      </a:r>
                    </a:p>
                  </a:txBody>
                  <a:tcPr marL="114300" marR="11430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BF3807E-178A-4DC3-B2DE-6F8396DA5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214" y="1404451"/>
            <a:ext cx="11098924" cy="90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1832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27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E0B2C24-7903-4C01-8C5A-39F4B6E58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569730"/>
            <a:ext cx="9753600" cy="398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5304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28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72705"/>
              </p:ext>
            </p:extLst>
          </p:nvPr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 </a:t>
                      </a:r>
                    </a:p>
                  </a:txBody>
                  <a:tcPr marL="114300" marR="11430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B85A5C9-0123-4F2C-ADA4-CF4A53150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971" y="1548573"/>
            <a:ext cx="10583917" cy="86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452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29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770802"/>
              </p:ext>
            </p:extLst>
          </p:nvPr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AC02F9C-1205-457C-BA7F-FC0AAD007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671" y="1436684"/>
            <a:ext cx="9049407" cy="44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7973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30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 </a:t>
                      </a:r>
                    </a:p>
                  </a:txBody>
                  <a:tcPr marL="114300" marR="11430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BA9C472-0131-4417-AB8F-3F6A5BFA7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59" y="1639001"/>
            <a:ext cx="10625959" cy="79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2229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31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D8A48E9D-62C7-4420-9F89-56D32F908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52" y="3274463"/>
            <a:ext cx="10615448" cy="13877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A4D2B3-7A58-46E6-8284-DA1548A9FE6D}"/>
                  </a:ext>
                </a:extLst>
              </p:cNvPr>
              <p:cNvSpPr txBox="1"/>
              <p:nvPr/>
            </p:nvSpPr>
            <p:spPr>
              <a:xfrm>
                <a:off x="1027385" y="1827255"/>
                <a:ext cx="1042100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(a) </a:t>
                </a:r>
                <a:r>
                  <a:rPr lang="en-US" sz="2400" dirty="0"/>
                  <a:t>System is non-causal. For example while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(−10)</m:t>
                    </m:r>
                  </m:oMath>
                </a14:m>
                <a:r>
                  <a:rPr lang="en-US" sz="2400" dirty="0"/>
                  <a:t>, we will have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(10)</m:t>
                    </m:r>
                  </m:oMath>
                </a14:m>
                <a:r>
                  <a:rPr lang="en-US" sz="2400" dirty="0"/>
                  <a:t>, so there clearly are past output values that depend on future input values.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A4D2B3-7A58-46E6-8284-DA1548A9F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385" y="1827255"/>
                <a:ext cx="10421007" cy="1200329"/>
              </a:xfrm>
              <a:prstGeom prst="rect">
                <a:avLst/>
              </a:prstGeom>
              <a:blipFill>
                <a:blip r:embed="rId3"/>
                <a:stretch>
                  <a:fillRect l="-936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80563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32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 </a:t>
                      </a:r>
                    </a:p>
                  </a:txBody>
                  <a:tcPr marL="114300" marR="11430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6277701-0760-4ABF-BC8F-9484DE2D1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827" y="570368"/>
            <a:ext cx="3810000" cy="1085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4FFEC1-7E3D-4A76-B239-85050F8AB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1" y="2124403"/>
            <a:ext cx="4057650" cy="2209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A8059E-40AA-44FA-BE24-B94BE3DCEECA}"/>
              </a:ext>
            </a:extLst>
          </p:cNvPr>
          <p:cNvSpPr txBox="1"/>
          <p:nvPr/>
        </p:nvSpPr>
        <p:spPr>
          <a:xfrm>
            <a:off x="8014527" y="790127"/>
            <a:ext cx="3691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Basically, this system clips any negative-amplitude part of the signal.</a:t>
            </a:r>
          </a:p>
        </p:txBody>
      </p:sp>
    </p:spTree>
    <p:extLst>
      <p:ext uri="{BB962C8B-B14F-4D97-AF65-F5344CB8AC3E}">
        <p14:creationId xmlns:p14="http://schemas.microsoft.com/office/powerpoint/2010/main" val="11265989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33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0CC042B-34F3-42A5-A5E2-811E9ABF0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1252537"/>
            <a:ext cx="10458450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846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34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C5824E-DBFA-4B28-B8EE-360877D15FBD}"/>
                  </a:ext>
                </a:extLst>
              </p:cNvPr>
              <p:cNvSpPr txBox="1"/>
              <p:nvPr/>
            </p:nvSpPr>
            <p:spPr>
              <a:xfrm>
                <a:off x="1103586" y="1881352"/>
                <a:ext cx="640080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𝑙𝑒𝑎𝑠𝑡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𝑙𝑒𝑎𝑠𝑡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Which clearly means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𝑙𝑒𝑎𝑠𝑡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C5824E-DBFA-4B28-B8EE-360877D15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586" y="1881352"/>
                <a:ext cx="6400800" cy="1754326"/>
              </a:xfrm>
              <a:prstGeom prst="rect">
                <a:avLst/>
              </a:prstGeom>
              <a:blipFill>
                <a:blip r:embed="rId2"/>
                <a:stretch>
                  <a:fillRect l="-762" b="-2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6399BA3-1792-4A08-98BF-D37E06FB87A8}"/>
              </a:ext>
            </a:extLst>
          </p:cNvPr>
          <p:cNvSpPr txBox="1"/>
          <p:nvPr/>
        </p:nvSpPr>
        <p:spPr>
          <a:xfrm>
            <a:off x="1650124" y="1145683"/>
            <a:ext cx="7956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more involved systems like these, we can also try to prove by counterexamples or by testing additivity and homogeneity separately. Let’s see two approaches.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A46514-82FA-4B83-B691-27AB29A717E9}"/>
                  </a:ext>
                </a:extLst>
              </p:cNvPr>
              <p:cNvSpPr txBox="1"/>
              <p:nvPr/>
            </p:nvSpPr>
            <p:spPr>
              <a:xfrm>
                <a:off x="974835" y="4141021"/>
                <a:ext cx="71785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𝑙𝑒𝑎𝑠𝑡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A46514-82FA-4B83-B691-27AB29A71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835" y="4141021"/>
                <a:ext cx="7178565" cy="369332"/>
              </a:xfrm>
              <a:prstGeom prst="rect">
                <a:avLst/>
              </a:prstGeom>
              <a:blipFill>
                <a:blip r:embed="rId3"/>
                <a:stretch>
                  <a:fillRect l="-764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0A1E300-6F8A-48A5-BA5E-AC8C04154F16}"/>
              </a:ext>
            </a:extLst>
          </p:cNvPr>
          <p:cNvCxnSpPr/>
          <p:nvPr/>
        </p:nvCxnSpPr>
        <p:spPr>
          <a:xfrm flipH="1">
            <a:off x="6905297" y="3794234"/>
            <a:ext cx="599089" cy="231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64AE7F-AA05-4802-BCF0-4116BBE6141A}"/>
                  </a:ext>
                </a:extLst>
              </p:cNvPr>
              <p:cNvSpPr txBox="1"/>
              <p:nvPr/>
            </p:nvSpPr>
            <p:spPr>
              <a:xfrm>
                <a:off x="7767145" y="3541986"/>
                <a:ext cx="25750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64AE7F-AA05-4802-BCF0-4116BBE61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145" y="3541986"/>
                <a:ext cx="2575034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48FC35E-8EB4-4E92-980F-EFC5BE174FBA}"/>
              </a:ext>
            </a:extLst>
          </p:cNvPr>
          <p:cNvSpPr txBox="1"/>
          <p:nvPr/>
        </p:nvSpPr>
        <p:spPr>
          <a:xfrm>
            <a:off x="1650124" y="4992414"/>
            <a:ext cx="5633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Since the two lead to different conditions, we conclude that the system fails additivity and cannot be linear.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B41C52-2593-4C23-BB70-C091C0774964}"/>
              </a:ext>
            </a:extLst>
          </p:cNvPr>
          <p:cNvSpPr txBox="1"/>
          <p:nvPr/>
        </p:nvSpPr>
        <p:spPr>
          <a:xfrm>
            <a:off x="830317" y="497855"/>
            <a:ext cx="1639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(d)</a:t>
            </a:r>
          </a:p>
        </p:txBody>
      </p:sp>
    </p:spTree>
    <p:extLst>
      <p:ext uri="{BB962C8B-B14F-4D97-AF65-F5344CB8AC3E}">
        <p14:creationId xmlns:p14="http://schemas.microsoft.com/office/powerpoint/2010/main" val="24282851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35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1BEEB8-A9F5-48D0-BBDF-DC0F594EC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1595930"/>
            <a:ext cx="10029825" cy="21526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AF6B17-CDE5-45AD-AD8B-0F28043278DA}"/>
              </a:ext>
            </a:extLst>
          </p:cNvPr>
          <p:cNvSpPr txBox="1"/>
          <p:nvPr/>
        </p:nvSpPr>
        <p:spPr>
          <a:xfrm>
            <a:off x="693683" y="672661"/>
            <a:ext cx="5255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Here’s an example of proof by counterexample: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1B63D5B-82CC-4FB0-B539-4E3C2C8F16E3}"/>
              </a:ext>
            </a:extLst>
          </p:cNvPr>
          <p:cNvCxnSpPr/>
          <p:nvPr/>
        </p:nvCxnSpPr>
        <p:spPr>
          <a:xfrm flipH="1" flipV="1">
            <a:off x="8408276" y="3005959"/>
            <a:ext cx="388883" cy="423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BB9AA6-7BC7-46F0-A4D9-484BE53773C3}"/>
                  </a:ext>
                </a:extLst>
              </p:cNvPr>
              <p:cNvSpPr txBox="1"/>
              <p:nvPr/>
            </p:nvSpPr>
            <p:spPr>
              <a:xfrm>
                <a:off x="8797159" y="3373765"/>
                <a:ext cx="25566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1+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is always non-negative.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BB9AA6-7BC7-46F0-A4D9-484BE5377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159" y="3373765"/>
                <a:ext cx="2556641" cy="646331"/>
              </a:xfrm>
              <a:prstGeom prst="rect">
                <a:avLst/>
              </a:prstGeom>
              <a:blipFill>
                <a:blip r:embed="rId3"/>
                <a:stretch>
                  <a:fillRect l="-1905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65946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36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CEFD8E-EDCF-48C4-97BC-1A822626E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213" y="813371"/>
            <a:ext cx="10405241" cy="10877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1376DA-E1C1-40D7-AD9C-5699D671C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918" y="4518298"/>
            <a:ext cx="4829669" cy="7523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B4C604-2862-42C7-857C-A473FC03A9A4}"/>
              </a:ext>
            </a:extLst>
          </p:cNvPr>
          <p:cNvSpPr txBox="1"/>
          <p:nvPr/>
        </p:nvSpPr>
        <p:spPr>
          <a:xfrm>
            <a:off x="761835" y="2232339"/>
            <a:ext cx="1608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(f)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92DEB2F-4E45-48B1-8966-D512CC955955}"/>
                  </a:ext>
                </a:extLst>
              </p:cNvPr>
              <p:cNvSpPr txBox="1"/>
              <p:nvPr/>
            </p:nvSpPr>
            <p:spPr>
              <a:xfrm>
                <a:off x="1345323" y="2232339"/>
                <a:ext cx="9406760" cy="6712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For time-invariance, we have to show that if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)=</m:t>
                    </m:r>
                    <m:r>
                      <a:rPr lang="en-GB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𝑆</m:t>
                    </m:r>
                    <m:r>
                      <a:rPr lang="en-GB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{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GB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en-GB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and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𝑆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  <m: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𝜏</m:t>
                            </m:r>
                          </m:e>
                        </m:d>
                      </m:e>
                    </m:d>
                  </m:oMath>
                </a14:m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𝜏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. Let’s check: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92DEB2F-4E45-48B1-8966-D512CC955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323" y="2232339"/>
                <a:ext cx="9406760" cy="671209"/>
              </a:xfrm>
              <a:prstGeom prst="rect">
                <a:avLst/>
              </a:prstGeom>
              <a:blipFill>
                <a:blip r:embed="rId4"/>
                <a:stretch>
                  <a:fillRect l="-583" t="-3636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4E6E3A9C-94B7-4BB6-BE53-5328E18DC6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5876" y="3328207"/>
            <a:ext cx="3478924" cy="867828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DDA90C96-6455-49ED-A364-C4C81A19F6AC}"/>
              </a:ext>
            </a:extLst>
          </p:cNvPr>
          <p:cNvSpPr/>
          <p:nvPr/>
        </p:nvSpPr>
        <p:spPr>
          <a:xfrm>
            <a:off x="5927833" y="3531476"/>
            <a:ext cx="777767" cy="4229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9F4628B-7850-46BC-A37D-281C992686C4}"/>
                  </a:ext>
                </a:extLst>
              </p:cNvPr>
              <p:cNvSpPr txBox="1"/>
              <p:nvPr/>
            </p:nvSpPr>
            <p:spPr>
              <a:xfrm>
                <a:off x="6103882" y="3492624"/>
                <a:ext cx="28903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9F4628B-7850-46BC-A37D-281C99268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882" y="3492624"/>
                <a:ext cx="2890345" cy="369332"/>
              </a:xfrm>
              <a:prstGeom prst="rect">
                <a:avLst/>
              </a:prstGeom>
              <a:blipFill>
                <a:blip r:embed="rId6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AD6FD8E5-F349-42E4-920C-00B335F706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798" t="-4733" b="1"/>
          <a:stretch/>
        </p:blipFill>
        <p:spPr>
          <a:xfrm>
            <a:off x="8188995" y="3283304"/>
            <a:ext cx="3728627" cy="7879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72D9817-289B-4704-A547-DCA57F102D9E}"/>
                  </a:ext>
                </a:extLst>
              </p:cNvPr>
              <p:cNvSpPr txBox="1"/>
              <p:nvPr/>
            </p:nvSpPr>
            <p:spPr>
              <a:xfrm>
                <a:off x="1644705" y="5742334"/>
                <a:ext cx="78251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Clearly</a:t>
                </a:r>
                <a:r>
                  <a:rPr lang="en-GB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𝜏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dirty="0"/>
                  <a:t>, and we conclude that the system is time-invariant.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72D9817-289B-4704-A547-DCA57F102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4705" y="5742334"/>
                <a:ext cx="7825116" cy="369332"/>
              </a:xfrm>
              <a:prstGeom prst="rect">
                <a:avLst/>
              </a:prstGeom>
              <a:blipFill>
                <a:blip r:embed="rId7"/>
                <a:stretch>
                  <a:fillRect l="-701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86993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37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 </a:t>
                      </a:r>
                    </a:p>
                  </a:txBody>
                  <a:tcPr marL="114300" marR="11430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9189924-9904-4044-A62E-DDF8FDEFFF5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6299" y="570368"/>
            <a:ext cx="3195823" cy="116150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C894AD-BB99-4182-A1A4-28F32706B6AE}"/>
                  </a:ext>
                </a:extLst>
              </p:cNvPr>
              <p:cNvSpPr txBox="1"/>
              <p:nvPr/>
            </p:nvSpPr>
            <p:spPr>
              <a:xfrm>
                <a:off x="746235" y="1967953"/>
                <a:ext cx="8271641" cy="1394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Consider the system above where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are the input and output, respectively, and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en-US" sz="2000" b="0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&lt;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∞</m:t>
                    </m:r>
                  </m:oMath>
                </a14:m>
                <a:r>
                  <a:rPr lang="en-US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is a constant.</a:t>
                </a:r>
                <a:r>
                  <a:rPr lang="en-US" sz="2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Determine whether this system is </a:t>
                </a:r>
                <a:r>
                  <a:rPr lang="en-GB" sz="20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(a) Memoryless (b) Causal (c) Invertible (d) Time-Invariant, (e) BIBO Stable</a:t>
                </a:r>
                <a:r>
                  <a:rPr lang="en-GB" sz="2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. Provide proper justifications (w.r.t given system) for your answers.</a:t>
                </a:r>
                <a:endPara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C894AD-BB99-4182-A1A4-28F32706B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35" y="1967953"/>
                <a:ext cx="8271641" cy="1394997"/>
              </a:xfrm>
              <a:prstGeom prst="rect">
                <a:avLst/>
              </a:prstGeom>
              <a:blipFill>
                <a:blip r:embed="rId3"/>
                <a:stretch>
                  <a:fillRect l="-737" t="-2183" b="-6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19AC61-2E34-433C-865E-E08E7F7C1F9B}"/>
                  </a:ext>
                </a:extLst>
              </p:cNvPr>
              <p:cNvSpPr txBox="1"/>
              <p:nvPr/>
            </p:nvSpPr>
            <p:spPr>
              <a:xfrm>
                <a:off x="1178278" y="4736560"/>
                <a:ext cx="10175522" cy="467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area under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19AC61-2E34-433C-865E-E08E7F7C1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278" y="4736560"/>
                <a:ext cx="10175522" cy="467692"/>
              </a:xfrm>
              <a:prstGeom prst="rect">
                <a:avLst/>
              </a:prstGeom>
              <a:blipFill>
                <a:blip r:embed="rId4"/>
                <a:stretch>
                  <a:fillRect t="-105195" b="-168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2066FE4-D594-4550-9CF2-B6940DD98C20}"/>
                  </a:ext>
                </a:extLst>
              </p:cNvPr>
              <p:cNvSpPr txBox="1"/>
              <p:nvPr/>
            </p:nvSpPr>
            <p:spPr>
              <a:xfrm>
                <a:off x="1638300" y="3744122"/>
                <a:ext cx="3886201" cy="7142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2066FE4-D594-4550-9CF2-B6940DD98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300" y="3744122"/>
                <a:ext cx="3886201" cy="7142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Right 10">
            <a:extLst>
              <a:ext uri="{FF2B5EF4-FFF2-40B4-BE49-F238E27FC236}">
                <a16:creationId xmlns:a16="http://schemas.microsoft.com/office/drawing/2014/main" id="{A64B5C82-231A-4F64-A9CC-BCE78051ECD5}"/>
              </a:ext>
            </a:extLst>
          </p:cNvPr>
          <p:cNvSpPr/>
          <p:nvPr/>
        </p:nvSpPr>
        <p:spPr>
          <a:xfrm>
            <a:off x="5867400" y="3878317"/>
            <a:ext cx="606972" cy="4459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FCDE41E-5FEC-4BC6-919A-47CC3732FE7B}"/>
                  </a:ext>
                </a:extLst>
              </p:cNvPr>
              <p:cNvSpPr txBox="1"/>
              <p:nvPr/>
            </p:nvSpPr>
            <p:spPr>
              <a:xfrm>
                <a:off x="6667501" y="3454650"/>
                <a:ext cx="4686299" cy="7790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area under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FCDE41E-5FEC-4BC6-919A-47CC3732F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1" y="3454650"/>
                <a:ext cx="4686299" cy="779059"/>
              </a:xfrm>
              <a:prstGeom prst="rect">
                <a:avLst/>
              </a:prstGeom>
              <a:blipFill>
                <a:blip r:embed="rId6"/>
                <a:stretch>
                  <a:fillRect t="-63281" b="-61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4F1C34D-2B68-47C9-BA0B-E3B4ACE38C0F}"/>
                  </a:ext>
                </a:extLst>
              </p:cNvPr>
              <p:cNvSpPr txBox="1"/>
              <p:nvPr/>
            </p:nvSpPr>
            <p:spPr>
              <a:xfrm>
                <a:off x="1734207" y="5496910"/>
                <a:ext cx="57176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Clearly,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4F1C34D-2B68-47C9-BA0B-E3B4ACE38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207" y="5496910"/>
                <a:ext cx="5717627" cy="369332"/>
              </a:xfrm>
              <a:prstGeom prst="rect">
                <a:avLst/>
              </a:prstGeom>
              <a:blipFill>
                <a:blip r:embed="rId7"/>
                <a:stretch>
                  <a:fillRect l="-853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00383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38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A34350-3CD7-41C8-91AF-C783EA073523}"/>
              </a:ext>
            </a:extLst>
          </p:cNvPr>
          <p:cNvGraphicFramePr>
            <a:graphicFrameLocks noGrp="1"/>
          </p:cNvGraphicFramePr>
          <p:nvPr/>
        </p:nvGraphicFramePr>
        <p:xfrm>
          <a:off x="485714" y="570368"/>
          <a:ext cx="2183914" cy="4363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183914">
                  <a:extLst>
                    <a:ext uri="{9D8B030D-6E8A-4147-A177-3AD203B41FA5}">
                      <a16:colId xmlns:a16="http://schemas.microsoft.com/office/drawing/2014/main" val="2367631981"/>
                    </a:ext>
                  </a:extLst>
                </a:gridCol>
              </a:tblGrid>
              <a:tr h="404030">
                <a:tc>
                  <a:txBody>
                    <a:bodyPr/>
                    <a:lstStyle/>
                    <a:p>
                      <a:pPr marL="76200" marR="5270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</a:p>
                  </a:txBody>
                  <a:tcPr marL="114300" marR="11430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CABC82-2484-45F8-817E-3A1765728AC1}"/>
                  </a:ext>
                </a:extLst>
              </p:cNvPr>
              <p:cNvSpPr txBox="1"/>
              <p:nvPr/>
            </p:nvSpPr>
            <p:spPr>
              <a:xfrm>
                <a:off x="1474076" y="1746855"/>
                <a:ext cx="9879724" cy="3327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2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We first note that the system represents area under </a:t>
                </a:r>
                <a14:m>
                  <m:oMath xmlns:m="http://schemas.openxmlformats.org/officeDocument/2006/math"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GB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GB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GB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GB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n-GB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+1−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GB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457200" marR="0" indent="-45720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AutoNum type="alphaLcParenBoth"/>
                </a:pPr>
                <a:r>
                  <a:rPr lang="en-GB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System is not memoryless as it requires past and future values (e.g., </a:t>
                </a:r>
                <a14:m>
                  <m:oMath xmlns:m="http://schemas.openxmlformats.org/officeDocument/2006/math"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+1−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GB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). </a:t>
                </a:r>
              </a:p>
              <a:p>
                <a:pPr marL="457200" marR="0" indent="-45720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AutoNum type="alphaLcParenBoth"/>
                </a:pPr>
                <a:endPara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(b) System is, in general, non-causal. However, for </a:t>
                </a:r>
                <a14:m>
                  <m:oMath xmlns:m="http://schemas.openxmlformats.org/officeDocument/2006/math"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≥1</m:t>
                    </m:r>
                  </m:oMath>
                </a14:m>
                <a:r>
                  <a:rPr lang="en-GB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the system is causal as in that case all the values from </a:t>
                </a:r>
                <a14:m>
                  <m:oMath xmlns:m="http://schemas.openxmlformats.org/officeDocument/2006/math"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GB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GB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GB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n-GB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+1−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GB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represent values before </a:t>
                </a:r>
                <a14:m>
                  <m:oMath xmlns:m="http://schemas.openxmlformats.org/officeDocument/2006/math"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GB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(c) System is not invertible, since different functions could give same area.</a:t>
                </a:r>
                <a:endPara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CABC82-2484-45F8-817E-3A1765728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076" y="1746855"/>
                <a:ext cx="9879724" cy="3327834"/>
              </a:xfrm>
              <a:prstGeom prst="rect">
                <a:avLst/>
              </a:prstGeom>
              <a:blipFill>
                <a:blip r:embed="rId2"/>
                <a:stretch>
                  <a:fillRect l="-679" t="-917" b="-2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35686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571999" cy="365125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39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6623AA-8638-4944-A5DE-D700F3CA06FE}"/>
                  </a:ext>
                </a:extLst>
              </p:cNvPr>
              <p:cNvSpPr txBox="1"/>
              <p:nvPr/>
            </p:nvSpPr>
            <p:spPr>
              <a:xfrm>
                <a:off x="651640" y="424541"/>
                <a:ext cx="8492359" cy="7363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2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(d) System is time-invariant as shifting the input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en-GB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would also shift the output by the same amount (can be seen by shifting the limits).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6623AA-8638-4944-A5DE-D700F3CA0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40" y="424541"/>
                <a:ext cx="8492359" cy="736355"/>
              </a:xfrm>
              <a:prstGeom prst="rect">
                <a:avLst/>
              </a:prstGeom>
              <a:blipFill>
                <a:blip r:embed="rId2"/>
                <a:stretch>
                  <a:fillRect l="-790" t="-4167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29D53D-84D1-4093-B6C9-5384C3009E18}"/>
                  </a:ext>
                </a:extLst>
              </p:cNvPr>
              <p:cNvSpPr txBox="1"/>
              <p:nvPr/>
            </p:nvSpPr>
            <p:spPr>
              <a:xfrm>
                <a:off x="1008239" y="2483984"/>
                <a:ext cx="10175522" cy="467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area under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29D53D-84D1-4093-B6C9-5384C3009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239" y="2483984"/>
                <a:ext cx="10175522" cy="467692"/>
              </a:xfrm>
              <a:prstGeom prst="rect">
                <a:avLst/>
              </a:prstGeom>
              <a:blipFill>
                <a:blip r:embed="rId3"/>
                <a:stretch>
                  <a:fillRect t="-105195" b="-168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518C94-8CC9-4920-91FC-5D78AEDCA652}"/>
                  </a:ext>
                </a:extLst>
              </p:cNvPr>
              <p:cNvSpPr txBox="1"/>
              <p:nvPr/>
            </p:nvSpPr>
            <p:spPr>
              <a:xfrm>
                <a:off x="1468261" y="1491546"/>
                <a:ext cx="3886201" cy="7142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518C94-8CC9-4920-91FC-5D78AEDCA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261" y="1491546"/>
                <a:ext cx="3886201" cy="7142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Right 9">
            <a:extLst>
              <a:ext uri="{FF2B5EF4-FFF2-40B4-BE49-F238E27FC236}">
                <a16:creationId xmlns:a16="http://schemas.microsoft.com/office/drawing/2014/main" id="{C97DDF04-EC4B-4E4C-9646-927880D20D41}"/>
              </a:ext>
            </a:extLst>
          </p:cNvPr>
          <p:cNvSpPr/>
          <p:nvPr/>
        </p:nvSpPr>
        <p:spPr>
          <a:xfrm>
            <a:off x="5697361" y="1625741"/>
            <a:ext cx="606972" cy="4459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F61F01-78C2-4773-B07D-8604F6247477}"/>
                  </a:ext>
                </a:extLst>
              </p:cNvPr>
              <p:cNvSpPr txBox="1"/>
              <p:nvPr/>
            </p:nvSpPr>
            <p:spPr>
              <a:xfrm>
                <a:off x="6497462" y="1448272"/>
                <a:ext cx="4686299" cy="7790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area under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F61F01-78C2-4773-B07D-8604F6247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7462" y="1448272"/>
                <a:ext cx="4686299" cy="779059"/>
              </a:xfrm>
              <a:prstGeom prst="rect">
                <a:avLst/>
              </a:prstGeom>
              <a:blipFill>
                <a:blip r:embed="rId5"/>
                <a:stretch>
                  <a:fillRect t="-63780" b="-629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52DA9C-A3B6-4617-84CD-D58C95C22F82}"/>
                  </a:ext>
                </a:extLst>
              </p:cNvPr>
              <p:cNvSpPr txBox="1"/>
              <p:nvPr/>
            </p:nvSpPr>
            <p:spPr>
              <a:xfrm>
                <a:off x="1564168" y="3244334"/>
                <a:ext cx="57176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Clearly,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52DA9C-A3B6-4617-84CD-D58C95C22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4168" y="3244334"/>
                <a:ext cx="5717627" cy="369332"/>
              </a:xfrm>
              <a:prstGeom prst="rect">
                <a:avLst/>
              </a:prstGeom>
              <a:blipFill>
                <a:blip r:embed="rId6"/>
                <a:stretch>
                  <a:fillRect l="-95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75BBCF-D959-45BE-8D42-40E1DD71E7E3}"/>
                  </a:ext>
                </a:extLst>
              </p:cNvPr>
              <p:cNvSpPr txBox="1"/>
              <p:nvPr/>
            </p:nvSpPr>
            <p:spPr>
              <a:xfrm>
                <a:off x="651640" y="3914842"/>
                <a:ext cx="8187560" cy="7355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(e) System is BIBO stable since the area under a bounded</a:t>
                </a:r>
                <a:r>
                  <a:rPr lang="en-GB" sz="2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GB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GB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GB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GB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n-GB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+1−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GB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would be bounded.</a:t>
                </a:r>
                <a:endPara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75BBCF-D959-45BE-8D42-40E1DD71E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40" y="3914842"/>
                <a:ext cx="8187560" cy="735586"/>
              </a:xfrm>
              <a:prstGeom prst="rect">
                <a:avLst/>
              </a:prstGeom>
              <a:blipFill>
                <a:blip r:embed="rId7"/>
                <a:stretch>
                  <a:fillRect l="-819" t="-3306" b="-140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71973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880852" y="6356351"/>
            <a:ext cx="6154993" cy="191933"/>
          </a:xfrm>
        </p:spPr>
        <p:txBody>
          <a:bodyPr/>
          <a:lstStyle/>
          <a:p>
            <a:r>
              <a:rPr lang="en-US"/>
              <a:t>EE252 - Signals &amp; Systems / Dr. Naveed R. Butt @ Habib University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F47-7A36-4150-8422-4C02C0B9FD9F}" type="slidenum">
              <a:rPr lang="en-GB" smtClean="0"/>
              <a:t>40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Questions?? Thoughts??</a:t>
            </a:r>
            <a:endParaRPr lang="en-GB" dirty="0"/>
          </a:p>
        </p:txBody>
      </p:sp>
      <p:pic>
        <p:nvPicPr>
          <p:cNvPr id="8" name="Picture 4" descr="Related im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614" y="1828800"/>
            <a:ext cx="2018909" cy="391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Relat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054" y="1710353"/>
            <a:ext cx="2018909" cy="391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Relat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162" y="1690688"/>
            <a:ext cx="2018909" cy="391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291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3950</TotalTime>
  <Words>2412</Words>
  <Application>Microsoft Office PowerPoint</Application>
  <PresentationFormat>Widescreen</PresentationFormat>
  <Paragraphs>217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Office Theme</vt:lpstr>
      <vt:lpstr>EE/CE 252/251 Signals and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Questions?? Thoughts??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</dc:title>
  <dc:creator>nrb</dc:creator>
  <cp:lastModifiedBy>Naveed Razzaq Butt</cp:lastModifiedBy>
  <cp:revision>565</cp:revision>
  <dcterms:created xsi:type="dcterms:W3CDTF">2019-01-05T09:45:28Z</dcterms:created>
  <dcterms:modified xsi:type="dcterms:W3CDTF">2026-02-12T10:10:38Z</dcterms:modified>
</cp:coreProperties>
</file>